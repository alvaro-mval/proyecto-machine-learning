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aleway Heavy" charset="1" panose="00000000000000000000"/>
      <p:regular r:id="rId16"/>
    </p:embeddedFon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Raleway" charset="1" panose="00000000000000000000"/>
      <p:regular r:id="rId19"/>
    </p:embeddedFont>
    <p:embeddedFont>
      <p:font typeface="Raleway Italics" charset="1" panose="00000000000000000000"/>
      <p:regular r:id="rId20"/>
    </p:embeddedFont>
    <p:embeddedFont>
      <p:font typeface="Raleway Semi-Bold" charset="1" panose="00000000000000000000"/>
      <p:regular r:id="rId21"/>
    </p:embeddedFont>
    <p:embeddedFont>
      <p:font typeface="Poppins Bold" charset="1" panose="00000800000000000000"/>
      <p:regular r:id="rId22"/>
    </p:embeddedFont>
    <p:embeddedFont>
      <p:font typeface="Montserrat" charset="1" panose="00000500000000000000"/>
      <p:regular r:id="rId23"/>
    </p:embeddedFont>
    <p:embeddedFont>
      <p:font typeface="Raleway Bold" charset="1" panose="00000000000000000000"/>
      <p:regular r:id="rId24"/>
    </p:embeddedFont>
    <p:embeddedFont>
      <p:font typeface="Raleway Bold Italic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3855085"/>
            <a:ext cx="13663973" cy="104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4"/>
              </a:lnSpc>
            </a:pPr>
            <a:r>
              <a:rPr lang="en-US" b="true" sz="6400" spc="32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PROYECTO ML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41032" y="5536576"/>
            <a:ext cx="9205936" cy="165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508484"/>
                </a:solidFill>
                <a:latin typeface="Garet Bold"/>
                <a:ea typeface="Garet Bold"/>
                <a:cs typeface="Garet Bold"/>
                <a:sym typeface="Garet Bold"/>
              </a:rPr>
              <a:t>Towars the glory: 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08484"/>
                </a:solidFill>
                <a:latin typeface="Garet"/>
                <a:ea typeface="Garet"/>
                <a:cs typeface="Garet"/>
                <a:sym typeface="Garet"/>
              </a:rPr>
              <a:t>Predicción de medallas olimpicas para federaciones deportivas</a:t>
            </a:r>
          </a:p>
        </p:txBody>
      </p:sp>
      <p:sp>
        <p:nvSpPr>
          <p:cNvPr name="TextBox 16" id="16"/>
          <p:cNvSpPr txBox="true"/>
          <p:nvPr/>
        </p:nvSpPr>
        <p:spPr>
          <a:xfrm rot="-17737">
            <a:off x="1478702" y="8554342"/>
            <a:ext cx="3272475" cy="38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3"/>
              </a:lnSpc>
              <a:spcBef>
                <a:spcPct val="0"/>
              </a:spcBef>
            </a:pPr>
            <a:r>
              <a:rPr lang="en-US" sz="2352" spc="148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Álvaro Martinez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933073" y="1407057"/>
            <a:ext cx="2890766" cy="38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9"/>
              </a:lnSpc>
              <a:spcBef>
                <a:spcPct val="0"/>
              </a:spcBef>
            </a:pPr>
            <a:r>
              <a:rPr lang="en-US" sz="2357" spc="148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Noviembre 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256656"/>
            <a:ext cx="13663973" cy="64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9"/>
              </a:lnSpc>
            </a:pPr>
            <a:r>
              <a:rPr lang="en-US" sz="3999" spc="199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PROPUESTA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64911" y="3321098"/>
            <a:ext cx="11745122" cy="113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2"/>
              </a:lnSpc>
            </a:pPr>
            <a:r>
              <a:rPr lang="en-US" b="true" sz="7625" spc="2455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CONTENIDOS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4911" y="2247968"/>
            <a:ext cx="8011222" cy="10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6"/>
              </a:lnSpc>
            </a:pPr>
            <a:r>
              <a:rPr lang="en-US" sz="7049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Índice 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81365" y="4988955"/>
            <a:ext cx="5395619" cy="308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Introducción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Equipo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Misión de la Empresa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Objetivos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8669" y="4999069"/>
            <a:ext cx="1315493" cy="304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60640" y="5030281"/>
            <a:ext cx="1315493" cy="304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9033" y="5004561"/>
            <a:ext cx="6340267" cy="305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Infografía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Presupuesto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Conclusiones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Contacto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0980471" y="1509420"/>
            <a:ext cx="5843356" cy="7270495"/>
            <a:chOff x="0" y="0"/>
            <a:chExt cx="7791142" cy="9693993"/>
          </a:xfrm>
        </p:grpSpPr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2"/>
            <a:srcRect l="9814" t="0" r="9814" b="0"/>
            <a:stretch>
              <a:fillRect/>
            </a:stretch>
          </p:blipFill>
          <p:spPr>
            <a:xfrm flipH="false" flipV="false">
              <a:off x="0" y="0"/>
              <a:ext cx="7791142" cy="9693993"/>
            </a:xfrm>
            <a:prstGeom prst="rect">
              <a:avLst/>
            </a:prstGeom>
          </p:spPr>
        </p:pic>
      </p:grpSp>
      <p:sp>
        <p:nvSpPr>
          <p:cNvPr name="TextBox 23" id="23"/>
          <p:cNvSpPr txBox="true"/>
          <p:nvPr/>
        </p:nvSpPr>
        <p:spPr>
          <a:xfrm rot="0">
            <a:off x="2400760" y="2418238"/>
            <a:ext cx="7588554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SOBRE MÍ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00760" y="3928125"/>
            <a:ext cx="6050682" cy="54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2"/>
              </a:lnSpc>
            </a:pPr>
            <a:r>
              <a:rPr lang="en-US" sz="3624" i="true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Álvaro Martínez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79027" y="4889194"/>
            <a:ext cx="8827301" cy="273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23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 una amplia experiencia en el sector data e inteligencia artificial. Apasionado de Machine Learning, intento aplicar clasificaciones y regresiones a todos los aspectos de negocio. Despues de los exitos cosechados en proyectos de python y bases de datos, ahora intento adentrarme en el maravilloso mundo de los modelos ML.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78386" y="1862241"/>
            <a:ext cx="15131228" cy="105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7"/>
              </a:lnSpc>
            </a:pPr>
            <a:r>
              <a:rPr lang="en-US" b="true" sz="7137" spc="229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INTRODUCCIÓN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97819" y="3221894"/>
            <a:ext cx="8615481" cy="48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6"/>
              </a:lnSpc>
            </a:pPr>
            <a:r>
              <a:rPr lang="en-US" b="true" sz="3224" spc="70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TOWARS THE GLORY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8386" y="4088360"/>
            <a:ext cx="14769298" cy="516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6"/>
              </a:lnSpc>
            </a:pPr>
            <a:r>
              <a:rPr lang="en-US" sz="25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</a:t>
            </a:r>
            <a:r>
              <a:rPr lang="en-US" sz="25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rante los últimos años, la preparación olímpica ha evolucionado desde modelos basados en intuición y observación hacia una estrategia guiada por datos. </a:t>
            </a:r>
          </a:p>
          <a:p>
            <a:pPr algn="ctr">
              <a:lnSpc>
                <a:spcPts val="4156"/>
              </a:lnSpc>
            </a:pPr>
          </a:p>
          <a:p>
            <a:pPr algn="ctr">
              <a:lnSpc>
                <a:spcPts val="4156"/>
              </a:lnSpc>
            </a:pPr>
            <a:r>
              <a:rPr lang="en-US" sz="25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Las federaciones deportivas compiten en un entorno donde cada detalle cuenta: desde la edad óptima de rendimiento, hasta la selección del equipo, las condiciones del evento, la evolución histórica del atleta o el nivel de competitividad de la disciplina.</a:t>
            </a:r>
          </a:p>
          <a:p>
            <a:pPr algn="ctr">
              <a:lnSpc>
                <a:spcPts val="4156"/>
              </a:lnSpc>
            </a:pPr>
          </a:p>
          <a:p>
            <a:pPr algn="ctr">
              <a:lnSpc>
                <a:spcPts val="4156"/>
              </a:lnSpc>
            </a:pPr>
            <a:r>
              <a:rPr lang="en-US" sz="25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Sin embargo, hasta ahora, disponer de un sistema capaz de predecir el resultado final de un atleta—incluyendo si ganará medalla o no—basado en datos reales y objetivos, era prácticamente imposible.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205857" y="1253691"/>
            <a:ext cx="13182927" cy="86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b="true" sz="5865" spc="188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QUÉ HACE EL MODELO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65216" y="2394630"/>
            <a:ext cx="5451412" cy="448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10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Analizar patrones históricos desde 1970 de datos olímpicos, </a:t>
            </a: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incluyendo: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Características físicas del atleta (edad, sexo, altura, peso)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Participación en ediciones anteriores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País o federación a la que pertenece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Características del evento y la sede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Disciplina deportiva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103379" y="2464220"/>
            <a:ext cx="4953002" cy="38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20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Procesar y estandarizar la información</a:t>
            </a: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el sistema genera una predicción en tiempo real que asigna:</a:t>
            </a:r>
          </a:p>
          <a:p>
            <a:pPr algn="l" marL="477125" indent="-238562" lvl="1">
              <a:lnSpc>
                <a:spcPts val="340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 = Oro</a:t>
            </a:r>
          </a:p>
          <a:p>
            <a:pPr algn="l" marL="477125" indent="-238562" lvl="1">
              <a:lnSpc>
                <a:spcPts val="340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= Plata</a:t>
            </a:r>
          </a:p>
          <a:p>
            <a:pPr algn="l" marL="477125" indent="-238562" lvl="1">
              <a:lnSpc>
                <a:spcPts val="340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 = Bronce</a:t>
            </a:r>
          </a:p>
          <a:p>
            <a:pPr algn="l" marL="477125" indent="-238562" lvl="1">
              <a:lnSpc>
                <a:spcPts val="340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 = Sin medalla</a:t>
            </a:r>
          </a:p>
          <a:p>
            <a:pPr algn="l">
              <a:lnSpc>
                <a:spcPts val="3403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265216" y="6961248"/>
            <a:ext cx="11632325" cy="25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20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Combinar:</a:t>
            </a:r>
          </a:p>
          <a:p>
            <a:pPr algn="l" marL="477125" indent="-238562" lvl="1">
              <a:lnSpc>
                <a:spcPts val="340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algoritmos de machine learning,</a:t>
            </a:r>
          </a:p>
          <a:p>
            <a:pPr algn="l" marL="477125" indent="-238562" lvl="1">
              <a:lnSpc>
                <a:spcPts val="340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tratamiento avanzado del desbalanceo de clases</a:t>
            </a:r>
          </a:p>
          <a:p>
            <a:pPr algn="l" marL="477125" indent="-238562" lvl="1">
              <a:lnSpc>
                <a:spcPts val="3403"/>
              </a:lnSpc>
              <a:buFont typeface="Arial"/>
              <a:buChar char="•"/>
            </a:pP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ptimización por F1-macro para que el modelo funcione bien en todas las categorías por igual, no solo en la clase mayoritaria.</a:t>
            </a:r>
          </a:p>
          <a:p>
            <a:pPr algn="l">
              <a:lnSpc>
                <a:spcPts val="3403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94935" y="2194935"/>
            <a:ext cx="617607" cy="1132280"/>
          </a:xfrm>
          <a:custGeom>
            <a:avLst/>
            <a:gdLst/>
            <a:ahLst/>
            <a:cxnLst/>
            <a:rect r="r" b="b" t="t" l="l"/>
            <a:pathLst>
              <a:path h="1132280" w="617607">
                <a:moveTo>
                  <a:pt x="0" y="0"/>
                </a:moveTo>
                <a:lnTo>
                  <a:pt x="617607" y="0"/>
                </a:lnTo>
                <a:lnTo>
                  <a:pt x="617607" y="1132280"/>
                </a:lnTo>
                <a:lnTo>
                  <a:pt x="0" y="1132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081379" y="2282023"/>
            <a:ext cx="740353" cy="958104"/>
          </a:xfrm>
          <a:custGeom>
            <a:avLst/>
            <a:gdLst/>
            <a:ahLst/>
            <a:cxnLst/>
            <a:rect r="r" b="b" t="t" l="l"/>
            <a:pathLst>
              <a:path h="958104" w="740353">
                <a:moveTo>
                  <a:pt x="0" y="0"/>
                </a:moveTo>
                <a:lnTo>
                  <a:pt x="740353" y="0"/>
                </a:lnTo>
                <a:lnTo>
                  <a:pt x="740353" y="958104"/>
                </a:lnTo>
                <a:lnTo>
                  <a:pt x="0" y="95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94935" y="6875523"/>
            <a:ext cx="520971" cy="968020"/>
          </a:xfrm>
          <a:custGeom>
            <a:avLst/>
            <a:gdLst/>
            <a:ahLst/>
            <a:cxnLst/>
            <a:rect r="r" b="b" t="t" l="l"/>
            <a:pathLst>
              <a:path h="968020" w="520971">
                <a:moveTo>
                  <a:pt x="0" y="0"/>
                </a:moveTo>
                <a:lnTo>
                  <a:pt x="520971" y="0"/>
                </a:lnTo>
                <a:lnTo>
                  <a:pt x="520971" y="968019"/>
                </a:lnTo>
                <a:lnTo>
                  <a:pt x="0" y="968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4287091" y="1169458"/>
            <a:ext cx="14305662" cy="72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9"/>
              </a:lnSpc>
            </a:pPr>
            <a:r>
              <a:rPr lang="en-US" b="true" sz="4920" spc="1584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¿PORQUE ES IMPORTANTE?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12166" y="3610610"/>
            <a:ext cx="11229700" cy="153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Optimización del presupuesto</a:t>
            </a:r>
          </a:p>
          <a:p>
            <a:pPr algn="l">
              <a:lnSpc>
                <a:spcPts val="308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Invertir en preparación olímpica es costoso. La predicción ayuda a focalizar recursos en aquellos deportistas o disciplinas con mayor retorno competitivo.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212166" y="5154806"/>
            <a:ext cx="12047134" cy="153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Monitorización objetiva del progreso del atleta</a:t>
            </a:r>
          </a:p>
          <a:p>
            <a:pPr algn="l">
              <a:lnSpc>
                <a:spcPts val="308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sistema permite comparar expectativas vs. rendimiento real, midiendo si un atleta se aleja o acerca a la probabilidad de medalla.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212166" y="2183297"/>
            <a:ext cx="12047134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Detección temprana del potencial de medalla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Permite identificar a los atletas con mayor probabilidad de éxito y priorizar entrenamientos, becas, programas de alto rendimiento o participación en competiciones internacionales.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12166" y="7087746"/>
            <a:ext cx="9740109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Toma de decisiones basada en datos, no en intuiciones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Muchos países toman decisiones estratégicas basándose en percepciones subjetivas. El modelo introduce objetividad y evidencia cuantitativa.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233894" y="2379617"/>
            <a:ext cx="676235" cy="690035"/>
          </a:xfrm>
          <a:custGeom>
            <a:avLst/>
            <a:gdLst/>
            <a:ahLst/>
            <a:cxnLst/>
            <a:rect r="r" b="b" t="t" l="l"/>
            <a:pathLst>
              <a:path h="690035" w="676235">
                <a:moveTo>
                  <a:pt x="0" y="0"/>
                </a:moveTo>
                <a:lnTo>
                  <a:pt x="676234" y="0"/>
                </a:lnTo>
                <a:lnTo>
                  <a:pt x="676234" y="690035"/>
                </a:lnTo>
                <a:lnTo>
                  <a:pt x="0" y="69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071395" y="5406364"/>
            <a:ext cx="891931" cy="737870"/>
          </a:xfrm>
          <a:custGeom>
            <a:avLst/>
            <a:gdLst/>
            <a:ahLst/>
            <a:cxnLst/>
            <a:rect r="r" b="b" t="t" l="l"/>
            <a:pathLst>
              <a:path h="737870" w="891931">
                <a:moveTo>
                  <a:pt x="0" y="0"/>
                </a:moveTo>
                <a:lnTo>
                  <a:pt x="891930" y="0"/>
                </a:lnTo>
                <a:lnTo>
                  <a:pt x="891930" y="737870"/>
                </a:lnTo>
                <a:lnTo>
                  <a:pt x="0" y="737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107064" y="3915927"/>
            <a:ext cx="929893" cy="644162"/>
          </a:xfrm>
          <a:custGeom>
            <a:avLst/>
            <a:gdLst/>
            <a:ahLst/>
            <a:cxnLst/>
            <a:rect r="r" b="b" t="t" l="l"/>
            <a:pathLst>
              <a:path h="644162" w="929893">
                <a:moveTo>
                  <a:pt x="0" y="0"/>
                </a:moveTo>
                <a:lnTo>
                  <a:pt x="929894" y="0"/>
                </a:lnTo>
                <a:lnTo>
                  <a:pt x="929894" y="644162"/>
                </a:lnTo>
                <a:lnTo>
                  <a:pt x="0" y="644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287091" y="7144968"/>
            <a:ext cx="569841" cy="829133"/>
          </a:xfrm>
          <a:custGeom>
            <a:avLst/>
            <a:gdLst/>
            <a:ahLst/>
            <a:cxnLst/>
            <a:rect r="r" b="b" t="t" l="l"/>
            <a:pathLst>
              <a:path h="829133" w="569841">
                <a:moveTo>
                  <a:pt x="0" y="0"/>
                </a:moveTo>
                <a:lnTo>
                  <a:pt x="569840" y="0"/>
                </a:lnTo>
                <a:lnTo>
                  <a:pt x="569840" y="829133"/>
                </a:lnTo>
                <a:lnTo>
                  <a:pt x="0" y="829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3674" y="854005"/>
            <a:ext cx="17678575" cy="954939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26299" y="1306678"/>
            <a:ext cx="19554929" cy="82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3"/>
              </a:lnSpc>
            </a:pPr>
            <a:r>
              <a:rPr lang="en-US" b="true" sz="5599" spc="1803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ESTRUCTURA DEL PROYECTO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6889" y="8632369"/>
            <a:ext cx="345218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4B91"/>
                </a:solidFill>
                <a:latin typeface="Poppins Bold"/>
                <a:ea typeface="Poppins Bold"/>
                <a:cs typeface="Poppins Bold"/>
                <a:sym typeface="Poppins Bold"/>
              </a:rPr>
              <a:t>Limpieza de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82840" y="5151306"/>
            <a:ext cx="3452180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4B91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 (EDA)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42495" y="6642286"/>
            <a:ext cx="4622280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4B91"/>
                </a:solidFill>
                <a:latin typeface="Poppins Bold"/>
                <a:ea typeface="Poppins Bold"/>
                <a:cs typeface="Poppins Bold"/>
                <a:sym typeface="Poppins Bold"/>
              </a:rPr>
              <a:t>Modelado baseline &amp;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4B91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optimización de balanceo de target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98184" y="2593336"/>
            <a:ext cx="5134199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4B91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Optimización  de  modelo &amp;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4B91"/>
                </a:solidFill>
                <a:latin typeface="Poppins Bold"/>
                <a:ea typeface="Poppins Bold"/>
                <a:cs typeface="Poppins Bold"/>
                <a:sym typeface="Poppins Bold"/>
              </a:rPr>
              <a:t>hiperparámetros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9705" y="9925128"/>
            <a:ext cx="17451709" cy="28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Streamlit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12513" y="3053076"/>
            <a:ext cx="3452180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4B91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Visualización &amp; Streamlit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84026" y="3316578"/>
            <a:ext cx="10193493" cy="4763141"/>
          </a:xfrm>
          <a:custGeom>
            <a:avLst/>
            <a:gdLst/>
            <a:ahLst/>
            <a:cxnLst/>
            <a:rect r="r" b="b" t="t" l="l"/>
            <a:pathLst>
              <a:path h="4763141" w="10193493">
                <a:moveTo>
                  <a:pt x="0" y="0"/>
                </a:moveTo>
                <a:lnTo>
                  <a:pt x="10193494" y="0"/>
                </a:lnTo>
                <a:lnTo>
                  <a:pt x="10193494" y="4763142"/>
                </a:lnTo>
                <a:lnTo>
                  <a:pt x="0" y="4763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9705" y="323082"/>
            <a:ext cx="17521266" cy="9669006"/>
            <a:chOff x="0" y="0"/>
            <a:chExt cx="23361689" cy="1289200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13674"/>
              <a:ext cx="23361689" cy="12878334"/>
              <a:chOff x="0" y="0"/>
              <a:chExt cx="6619526" cy="364907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94318" y="308021"/>
              <a:ext cx="22752985" cy="12243604"/>
              <a:chOff x="0" y="0"/>
              <a:chExt cx="6447050" cy="346922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78509" y="705780"/>
              <a:ext cx="22046990" cy="11480405"/>
              <a:chOff x="0" y="0"/>
              <a:chExt cx="6247007" cy="325296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0" y="13674"/>
              <a:ext cx="4457666" cy="4457666"/>
            </a:xfrm>
            <a:custGeom>
              <a:avLst/>
              <a:gdLst/>
              <a:ahLst/>
              <a:cxnLst/>
              <a:rect r="r" b="b" t="t" l="l"/>
              <a:pathLst>
                <a:path h="4457666" w="4457666">
                  <a:moveTo>
                    <a:pt x="0" y="0"/>
                  </a:moveTo>
                  <a:lnTo>
                    <a:pt x="4457666" y="0"/>
                  </a:lnTo>
                  <a:lnTo>
                    <a:pt x="4457666" y="4457666"/>
                  </a:lnTo>
                  <a:lnTo>
                    <a:pt x="0" y="445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8904022" y="0"/>
              <a:ext cx="4457666" cy="4457666"/>
            </a:xfrm>
            <a:custGeom>
              <a:avLst/>
              <a:gdLst/>
              <a:ahLst/>
              <a:cxnLst/>
              <a:rect r="r" b="b" t="t" l="l"/>
              <a:pathLst>
                <a:path h="4457666" w="4457666">
                  <a:moveTo>
                    <a:pt x="0" y="0"/>
                  </a:moveTo>
                  <a:lnTo>
                    <a:pt x="4457667" y="0"/>
                  </a:lnTo>
                  <a:lnTo>
                    <a:pt x="4457667" y="4457666"/>
                  </a:lnTo>
                  <a:lnTo>
                    <a:pt x="0" y="4457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584026" y="3487912"/>
            <a:ext cx="4508412" cy="4475624"/>
          </a:xfrm>
          <a:custGeom>
            <a:avLst/>
            <a:gdLst/>
            <a:ahLst/>
            <a:cxnLst/>
            <a:rect r="r" b="b" t="t" l="l"/>
            <a:pathLst>
              <a:path h="4475624" w="4508412">
                <a:moveTo>
                  <a:pt x="0" y="0"/>
                </a:moveTo>
                <a:lnTo>
                  <a:pt x="4508413" y="0"/>
                </a:lnTo>
                <a:lnTo>
                  <a:pt x="4508413" y="4475624"/>
                </a:lnTo>
                <a:lnTo>
                  <a:pt x="0" y="4475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216741" y="7120490"/>
            <a:ext cx="3367285" cy="1108143"/>
          </a:xfrm>
          <a:custGeom>
            <a:avLst/>
            <a:gdLst/>
            <a:ahLst/>
            <a:cxnLst/>
            <a:rect r="r" b="b" t="t" l="l"/>
            <a:pathLst>
              <a:path h="1108143" w="3367285">
                <a:moveTo>
                  <a:pt x="0" y="0"/>
                </a:moveTo>
                <a:lnTo>
                  <a:pt x="3367285" y="0"/>
                </a:lnTo>
                <a:lnTo>
                  <a:pt x="3367285" y="1108143"/>
                </a:lnTo>
                <a:lnTo>
                  <a:pt x="0" y="1108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828175" y="1389886"/>
            <a:ext cx="11974456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Bold"/>
                <a:ea typeface="Raleway Bold"/>
                <a:cs typeface="Raleway Bold"/>
                <a:sym typeface="Raleway Bold"/>
              </a:rPr>
              <a:t>ESCALADO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80773" y="3604940"/>
            <a:ext cx="4364189" cy="85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1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Optimización balanceo &amp; hiperparametros (Optuna)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0773" y="5252912"/>
            <a:ext cx="4889541" cy="85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1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Enriquecimiento de datos (horas entrenamiento, inversión)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05150" y="7034765"/>
            <a:ext cx="4339812" cy="41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1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Aplicación de Deep Learning</a:t>
            </a:r>
          </a:p>
        </p:txBody>
      </p:sp>
      <p:sp>
        <p:nvSpPr>
          <p:cNvPr name="Freeform 21" id="21"/>
          <p:cNvSpPr/>
          <p:nvPr/>
        </p:nvSpPr>
        <p:spPr>
          <a:xfrm flipH="false" flipV="true" rot="0">
            <a:off x="2597829" y="2765931"/>
            <a:ext cx="3986198" cy="1311821"/>
          </a:xfrm>
          <a:custGeom>
            <a:avLst/>
            <a:gdLst/>
            <a:ahLst/>
            <a:cxnLst/>
            <a:rect r="r" b="b" t="t" l="l"/>
            <a:pathLst>
              <a:path h="1311821" w="3986198">
                <a:moveTo>
                  <a:pt x="0" y="1311821"/>
                </a:moveTo>
                <a:lnTo>
                  <a:pt x="3986197" y="1311821"/>
                </a:lnTo>
                <a:lnTo>
                  <a:pt x="3986197" y="0"/>
                </a:lnTo>
                <a:lnTo>
                  <a:pt x="0" y="0"/>
                </a:lnTo>
                <a:lnTo>
                  <a:pt x="0" y="131182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43754"/>
            <a:chOff x="0" y="0"/>
            <a:chExt cx="23268945" cy="12858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40085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41836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4594181" y="7670951"/>
            <a:ext cx="1774815" cy="1348859"/>
          </a:xfrm>
          <a:custGeom>
            <a:avLst/>
            <a:gdLst/>
            <a:ahLst/>
            <a:cxnLst/>
            <a:rect r="r" b="b" t="t" l="l"/>
            <a:pathLst>
              <a:path h="1348859" w="1774815">
                <a:moveTo>
                  <a:pt x="0" y="0"/>
                </a:moveTo>
                <a:lnTo>
                  <a:pt x="1774815" y="0"/>
                </a:lnTo>
                <a:lnTo>
                  <a:pt x="1774815" y="1348860"/>
                </a:lnTo>
                <a:lnTo>
                  <a:pt x="0" y="1348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838287" y="7613801"/>
            <a:ext cx="7834936" cy="90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6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"</a:t>
            </a:r>
            <a:r>
              <a:rPr lang="en-US" sz="26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mejor manera de predecir el futuro es crearlo."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15323" y="8466589"/>
            <a:ext cx="7931197" cy="55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0"/>
              </a:lnSpc>
            </a:pPr>
            <a:r>
              <a:rPr lang="en-US" sz="3851" i="true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Peter Drucker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07669" y="2455569"/>
            <a:ext cx="12067350" cy="442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482" indent="-331241" lvl="1">
              <a:lnSpc>
                <a:spcPts val="5032"/>
              </a:lnSpc>
              <a:buFont typeface="Arial"/>
              <a:buChar char="•"/>
            </a:pP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Implementación del software en un día</a:t>
            </a:r>
          </a:p>
          <a:p>
            <a:pPr algn="l">
              <a:lnSpc>
                <a:spcPts val="5032"/>
              </a:lnSpc>
            </a:pPr>
          </a:p>
          <a:p>
            <a:pPr algn="l" marL="662482" indent="-331241" lvl="1">
              <a:lnSpc>
                <a:spcPts val="5032"/>
              </a:lnSpc>
              <a:buFont typeface="Arial"/>
              <a:buChar char="•"/>
            </a:pP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Resultados en los próximos JJOO</a:t>
            </a:r>
          </a:p>
          <a:p>
            <a:pPr algn="l">
              <a:lnSpc>
                <a:spcPts val="5032"/>
              </a:lnSpc>
            </a:pPr>
          </a:p>
          <a:p>
            <a:pPr algn="l" marL="662482" indent="-331241" lvl="1">
              <a:lnSpc>
                <a:spcPts val="5032"/>
              </a:lnSpc>
              <a:buFont typeface="Arial"/>
              <a:buChar char="•"/>
            </a:pP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Seguimiento, actualización de datos y mejora continua</a:t>
            </a:r>
          </a:p>
          <a:p>
            <a:pPr algn="l">
              <a:lnSpc>
                <a:spcPts val="5032"/>
              </a:lnSpc>
            </a:pPr>
          </a:p>
          <a:p>
            <a:pPr algn="l" marL="662482" indent="-331241" lvl="1">
              <a:lnSpc>
                <a:spcPts val="5032"/>
              </a:lnSpc>
              <a:buFont typeface="Arial"/>
              <a:buChar char="•"/>
            </a:pPr>
            <a:r>
              <a:rPr lang="en-US" sz="30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Descuentos Black Friday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28379" y="1421948"/>
            <a:ext cx="10173889" cy="75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</a:pPr>
            <a:r>
              <a:rPr lang="en-US" b="true" sz="5151" i="true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Apostar por Towars the Glory es: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4499190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GRACIAS</a:t>
            </a:r>
          </a:p>
        </p:txBody>
      </p:sp>
      <p:sp>
        <p:nvSpPr>
          <p:cNvPr name="TextBox 15" id="15"/>
          <p:cNvSpPr txBox="true"/>
          <p:nvPr/>
        </p:nvSpPr>
        <p:spPr>
          <a:xfrm rot="-17737">
            <a:off x="1503018" y="8627473"/>
            <a:ext cx="3272475" cy="36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3"/>
              </a:lnSpc>
              <a:spcBef>
                <a:spcPct val="0"/>
              </a:spcBef>
            </a:pPr>
            <a:r>
              <a:rPr lang="en-US" sz="2152" spc="13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Álvaro Martinez</a:t>
            </a:r>
          </a:p>
        </p:txBody>
      </p:sp>
      <p:sp>
        <p:nvSpPr>
          <p:cNvPr name="TextBox 16" id="16"/>
          <p:cNvSpPr txBox="true"/>
          <p:nvPr/>
        </p:nvSpPr>
        <p:spPr>
          <a:xfrm rot="-17737">
            <a:off x="14201195" y="1406366"/>
            <a:ext cx="2622496" cy="33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39"/>
              </a:lnSpc>
              <a:spcBef>
                <a:spcPct val="0"/>
              </a:spcBef>
            </a:pPr>
            <a:r>
              <a:rPr lang="en-US" sz="1957" spc="12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Noviembre 2025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12014" y="329475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MUCHAS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36260" y="6741566"/>
            <a:ext cx="8615481" cy="57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</a:pPr>
            <a:r>
              <a:rPr lang="en-US" b="true" sz="3824" spc="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TOWARS THE GLORY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DAG5mIpE1BM</dc:identifier>
  <dcterms:modified xsi:type="dcterms:W3CDTF">2011-08-01T06:04:30Z</dcterms:modified>
  <cp:revision>1</cp:revision>
  <dc:title>Álvaro Martinez</dc:title>
</cp:coreProperties>
</file>