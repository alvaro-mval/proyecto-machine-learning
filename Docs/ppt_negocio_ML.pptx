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Garet" panose="020B0604020202020204" charset="0"/>
      <p:regular r:id="rId16"/>
    </p:embeddedFont>
    <p:embeddedFont>
      <p:font typeface="Garet Bold" panose="020B0604020202020204" charset="0"/>
      <p:regular r:id="rId17"/>
    </p:embeddedFont>
    <p:embeddedFont>
      <p:font typeface="Montserrat" panose="00000500000000000000" pitchFamily="2" charset="0"/>
      <p:regular r:id="rId18"/>
      <p:bold r:id="rId19"/>
      <p:italic r:id="rId20"/>
      <p:boldItalic r:id="rId21"/>
    </p:embeddedFont>
    <p:embeddedFont>
      <p:font typeface="Poppins Bold" panose="00000800000000000000" charset="0"/>
      <p:regular r:id="rId22"/>
    </p:embeddedFont>
    <p:embeddedFont>
      <p:font typeface="Raleway" pitchFamily="2" charset="0"/>
      <p:regular r:id="rId23"/>
      <p:bold r:id="rId24"/>
      <p:italic r:id="rId25"/>
      <p:boldItalic r:id="rId26"/>
    </p:embeddedFont>
    <p:embeddedFont>
      <p:font typeface="Raleway Bold" charset="0"/>
      <p:regular r:id="rId27"/>
    </p:embeddedFont>
    <p:embeddedFont>
      <p:font typeface="Raleway Bold Italics" panose="020B0604020202020204" charset="0"/>
      <p:regular r:id="rId28"/>
    </p:embeddedFont>
    <p:embeddedFont>
      <p:font typeface="Raleway Heavy" panose="020B0604020202020204" charset="0"/>
      <p:regular r:id="rId29"/>
    </p:embeddedFont>
    <p:embeddedFont>
      <p:font typeface="Raleway Italics" panose="020B0604020202020204" charset="0"/>
      <p:regular r:id="rId30"/>
    </p:embeddedFont>
    <p:embeddedFont>
      <p:font typeface="Raleway Semi-Bold" panose="020B0604020202020204" charset="0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4" d="100"/>
          <a:sy n="54" d="100"/>
        </p:scale>
        <p:origin x="754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font" Target="fonts/font15.fntdata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font" Target="fonts/font14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29" Type="http://schemas.openxmlformats.org/officeDocument/2006/relationships/font" Target="fonts/font1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3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28" Type="http://schemas.openxmlformats.org/officeDocument/2006/relationships/font" Target="fonts/font17.fntdata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31" Type="http://schemas.openxmlformats.org/officeDocument/2006/relationships/font" Target="fonts/font2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font" Target="fonts/font16.fntdata"/><Relationship Id="rId30" Type="http://schemas.openxmlformats.org/officeDocument/2006/relationships/font" Target="fonts/font19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Relationship Id="rId9" Type="http://schemas.openxmlformats.org/officeDocument/2006/relationships/image" Target="../media/image1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0.svg"/><Relationship Id="rId7" Type="http://schemas.openxmlformats.org/officeDocument/2006/relationships/image" Target="../media/image22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.svg"/><Relationship Id="rId4" Type="http://schemas.openxmlformats.org/officeDocument/2006/relationships/image" Target="../media/image1.png"/><Relationship Id="rId9" Type="http://schemas.openxmlformats.org/officeDocument/2006/relationships/image" Target="../media/image2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79705" y="333297"/>
            <a:ext cx="17451709" cy="9620406"/>
            <a:chOff x="0" y="0"/>
            <a:chExt cx="23268945" cy="12827209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619526" cy="3649071"/>
              </a:xfrm>
              <a:custGeom>
                <a:avLst/>
                <a:gdLst/>
                <a:ahLst/>
                <a:cxnLst/>
                <a:rect l="l" t="t" r="r" b="b"/>
                <a:pathLst>
                  <a:path w="6619526" h="3649071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447050" cy="3469221"/>
              </a:xfrm>
              <a:custGeom>
                <a:avLst/>
                <a:gdLst/>
                <a:ahLst/>
                <a:cxnLst/>
                <a:rect l="l" t="t" r="r" b="b"/>
                <a:pathLst>
                  <a:path w="6447050" h="3469221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247007" cy="3252968"/>
              </a:xfrm>
              <a:custGeom>
                <a:avLst/>
                <a:gdLst/>
                <a:ahLst/>
                <a:cxnLst/>
                <a:rect l="l" t="t" r="r" b="b"/>
                <a:pathLst>
                  <a:path w="6247007" h="3252968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3" name="Freeform 13"/>
            <p:cNvSpPr/>
            <p:nvPr/>
          </p:nvSpPr>
          <p:spPr>
            <a:xfrm>
              <a:off x="0" y="0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2312014" y="3855085"/>
            <a:ext cx="13663973" cy="10440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4"/>
              </a:lnSpc>
            </a:pPr>
            <a:r>
              <a:rPr lang="en-US" sz="6400" b="1" spc="320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PROYECTO ML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541032" y="5536576"/>
            <a:ext cx="9205936" cy="165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1">
                <a:solidFill>
                  <a:srgbClr val="508484"/>
                </a:solidFill>
                <a:latin typeface="Garet Bold"/>
                <a:ea typeface="Garet Bold"/>
                <a:cs typeface="Garet Bold"/>
                <a:sym typeface="Garet Bold"/>
              </a:rPr>
              <a:t>Towars the glory: 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508484"/>
                </a:solidFill>
                <a:latin typeface="Garet"/>
                <a:ea typeface="Garet"/>
                <a:cs typeface="Garet"/>
                <a:sym typeface="Garet"/>
              </a:rPr>
              <a:t>Predicción de medallas olimpicas para federaciones deportivas</a:t>
            </a:r>
          </a:p>
        </p:txBody>
      </p:sp>
      <p:sp>
        <p:nvSpPr>
          <p:cNvPr id="16" name="TextBox 16"/>
          <p:cNvSpPr txBox="1"/>
          <p:nvPr/>
        </p:nvSpPr>
        <p:spPr>
          <a:xfrm rot="-17737">
            <a:off x="1478702" y="8554342"/>
            <a:ext cx="3272475" cy="3879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93"/>
              </a:lnSpc>
              <a:spcBef>
                <a:spcPct val="0"/>
              </a:spcBef>
            </a:pPr>
            <a:r>
              <a:rPr lang="en-US" sz="2352" spc="148">
                <a:solidFill>
                  <a:srgbClr val="27403B"/>
                </a:solidFill>
                <a:latin typeface="Garet"/>
                <a:ea typeface="Garet"/>
                <a:cs typeface="Garet"/>
                <a:sym typeface="Garet"/>
              </a:rPr>
              <a:t>Álvaro Martinez</a:t>
            </a:r>
          </a:p>
        </p:txBody>
      </p:sp>
      <p:sp>
        <p:nvSpPr>
          <p:cNvPr id="17" name="TextBox 17"/>
          <p:cNvSpPr txBox="1"/>
          <p:nvPr/>
        </p:nvSpPr>
        <p:spPr>
          <a:xfrm rot="-17737">
            <a:off x="13933073" y="1407057"/>
            <a:ext cx="2890766" cy="3878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299"/>
              </a:lnSpc>
              <a:spcBef>
                <a:spcPct val="0"/>
              </a:spcBef>
            </a:pPr>
            <a:r>
              <a:rPr lang="en-US" sz="2357" spc="148">
                <a:solidFill>
                  <a:srgbClr val="27403B"/>
                </a:solidFill>
                <a:latin typeface="Garet"/>
                <a:ea typeface="Garet"/>
                <a:cs typeface="Garet"/>
                <a:sym typeface="Garet"/>
              </a:rPr>
              <a:t>Noviembre 2025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312014" y="3256656"/>
            <a:ext cx="13663973" cy="6489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39"/>
              </a:lnSpc>
            </a:pPr>
            <a:r>
              <a:rPr lang="en-US" sz="3999" spc="199">
                <a:solidFill>
                  <a:srgbClr val="27403B"/>
                </a:solidFill>
                <a:latin typeface="Raleway"/>
                <a:ea typeface="Raleway"/>
                <a:cs typeface="Raleway"/>
                <a:sym typeface="Raleway"/>
              </a:rPr>
              <a:t>PROPUESTA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2400" y="333297"/>
            <a:ext cx="17451709" cy="9620406"/>
            <a:chOff x="0" y="0"/>
            <a:chExt cx="23268945" cy="12827209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619526" cy="3649071"/>
              </a:xfrm>
              <a:custGeom>
                <a:avLst/>
                <a:gdLst/>
                <a:ahLst/>
                <a:cxnLst/>
                <a:rect l="l" t="t" r="r" b="b"/>
                <a:pathLst>
                  <a:path w="6619526" h="3649071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447050" cy="3469221"/>
              </a:xfrm>
              <a:custGeom>
                <a:avLst/>
                <a:gdLst/>
                <a:ahLst/>
                <a:cxnLst/>
                <a:rect l="l" t="t" r="r" b="b"/>
                <a:pathLst>
                  <a:path w="6447050" h="3469221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675815" y="673263"/>
              <a:ext cx="21959466" cy="11434829"/>
              <a:chOff x="0" y="0"/>
              <a:chExt cx="6247007" cy="325296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247007" cy="3252968"/>
              </a:xfrm>
              <a:custGeom>
                <a:avLst/>
                <a:gdLst/>
                <a:ahLst/>
                <a:cxnLst/>
                <a:rect l="l" t="t" r="r" b="b"/>
                <a:pathLst>
                  <a:path w="6247007" h="3252968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 rot="5400000">
              <a:off x="18828976" y="0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3" name="TextBox 13"/>
          <p:cNvSpPr txBox="1"/>
          <p:nvPr/>
        </p:nvSpPr>
        <p:spPr>
          <a:xfrm>
            <a:off x="2564911" y="3321098"/>
            <a:ext cx="11745122" cy="11314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92"/>
              </a:lnSpc>
            </a:pPr>
            <a:r>
              <a:rPr lang="en-US" sz="7625" b="1" spc="2455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CONTENIDOS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564911" y="2247968"/>
            <a:ext cx="8011222" cy="10445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8036"/>
              </a:lnSpc>
            </a:pPr>
            <a:r>
              <a:rPr lang="en-US" sz="7049">
                <a:solidFill>
                  <a:srgbClr val="27403B"/>
                </a:solidFill>
                <a:latin typeface="Raleway"/>
                <a:ea typeface="Raleway"/>
                <a:cs typeface="Raleway"/>
                <a:sym typeface="Raleway"/>
              </a:rPr>
              <a:t>Índice de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681365" y="4988955"/>
            <a:ext cx="5395619" cy="23188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306"/>
              </a:lnSpc>
            </a:pPr>
            <a:r>
              <a:rPr lang="en-US" sz="2522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Introducción</a:t>
            </a:r>
            <a:r>
              <a:rPr lang="en-US" sz="2522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</a:p>
          <a:p>
            <a:pPr algn="l">
              <a:lnSpc>
                <a:spcPts val="6306"/>
              </a:lnSpc>
            </a:pPr>
            <a:r>
              <a:rPr lang="en-US" sz="2522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El </a:t>
            </a:r>
            <a:r>
              <a:rPr lang="en-US" sz="2522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modelo</a:t>
            </a:r>
            <a:endParaRPr lang="en-US" sz="2522" dirty="0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  <a:p>
            <a:pPr algn="l">
              <a:lnSpc>
                <a:spcPts val="6306"/>
              </a:lnSpc>
            </a:pPr>
            <a:r>
              <a:rPr lang="en-US" sz="2522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¿Por que es </a:t>
            </a:r>
            <a:r>
              <a:rPr lang="en-US" sz="2522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importante</a:t>
            </a:r>
            <a:r>
              <a:rPr lang="en-US" sz="2522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?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988669" y="4999069"/>
            <a:ext cx="1315493" cy="2318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315"/>
              </a:lnSpc>
            </a:pPr>
            <a:r>
              <a:rPr lang="en-US" sz="2526" b="1" spc="376" dirty="0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01.</a:t>
            </a:r>
          </a:p>
          <a:p>
            <a:pPr algn="r">
              <a:lnSpc>
                <a:spcPts val="6315"/>
              </a:lnSpc>
            </a:pPr>
            <a:r>
              <a:rPr lang="en-US" sz="2526" b="1" spc="376" dirty="0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02.</a:t>
            </a:r>
          </a:p>
          <a:p>
            <a:pPr algn="r">
              <a:lnSpc>
                <a:spcPts val="6315"/>
              </a:lnSpc>
            </a:pPr>
            <a:r>
              <a:rPr lang="en-US" sz="2526" b="1" spc="376" dirty="0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03.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394089" y="5812706"/>
            <a:ext cx="1315493" cy="2318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315"/>
              </a:lnSpc>
            </a:pPr>
            <a:r>
              <a:rPr lang="en-US" sz="2526" b="1" spc="376" dirty="0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05.</a:t>
            </a:r>
          </a:p>
          <a:p>
            <a:pPr algn="r">
              <a:lnSpc>
                <a:spcPts val="6315"/>
              </a:lnSpc>
            </a:pPr>
            <a:endParaRPr lang="en-US" sz="2526" b="1" spc="376" dirty="0">
              <a:solidFill>
                <a:srgbClr val="000000"/>
              </a:solidFill>
              <a:latin typeface="Garet Bold"/>
              <a:ea typeface="Garet Bold"/>
              <a:cs typeface="Garet Bold"/>
              <a:sym typeface="Garet Bold"/>
            </a:endParaRPr>
          </a:p>
          <a:p>
            <a:pPr algn="r">
              <a:lnSpc>
                <a:spcPts val="6315"/>
              </a:lnSpc>
            </a:pPr>
            <a:endParaRPr lang="en-US" sz="2526" b="1" spc="376" dirty="0">
              <a:solidFill>
                <a:srgbClr val="000000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0929444" y="5727160"/>
            <a:ext cx="6340267" cy="703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306"/>
              </a:lnSpc>
            </a:pPr>
            <a:r>
              <a:rPr lang="en-US" sz="2522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Escalado</a:t>
            </a:r>
            <a:endParaRPr lang="en-US" sz="2522" dirty="0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A8641011-62DD-4ACA-B88E-6456F96802AB}"/>
              </a:ext>
            </a:extLst>
          </p:cNvPr>
          <p:cNvSpPr txBox="1"/>
          <p:nvPr/>
        </p:nvSpPr>
        <p:spPr>
          <a:xfrm>
            <a:off x="9340551" y="4978992"/>
            <a:ext cx="1315493" cy="7031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315"/>
              </a:lnSpc>
            </a:pPr>
            <a:r>
              <a:rPr lang="en-US" sz="2526" b="1" spc="376" dirty="0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04.</a:t>
            </a:r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F009E028-24EE-479A-BF4D-5EDF1894BB61}"/>
              </a:ext>
            </a:extLst>
          </p:cNvPr>
          <p:cNvSpPr txBox="1"/>
          <p:nvPr/>
        </p:nvSpPr>
        <p:spPr>
          <a:xfrm>
            <a:off x="10929444" y="4912542"/>
            <a:ext cx="5395619" cy="703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306"/>
              </a:lnSpc>
            </a:pPr>
            <a:r>
              <a:rPr lang="en-US" sz="2522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Estructura</a:t>
            </a:r>
            <a:r>
              <a:rPr lang="en-US" sz="2522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del </a:t>
            </a:r>
            <a:r>
              <a:rPr lang="en-US" sz="2522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proyecto</a:t>
            </a:r>
            <a:endParaRPr lang="en-US" sz="2522" dirty="0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379705" y="333297"/>
            <a:ext cx="17451709" cy="9620406"/>
            <a:chOff x="0" y="0"/>
            <a:chExt cx="23268945" cy="12827209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619526" cy="3649071"/>
              </a:xfrm>
              <a:custGeom>
                <a:avLst/>
                <a:gdLst/>
                <a:ahLst/>
                <a:cxnLst/>
                <a:rect l="l" t="t" r="r" b="b"/>
                <a:pathLst>
                  <a:path w="6619526" h="3649071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447050" cy="3469221"/>
              </a:xfrm>
              <a:custGeom>
                <a:avLst/>
                <a:gdLst/>
                <a:ahLst/>
                <a:cxnLst/>
                <a:rect l="l" t="t" r="r" b="b"/>
                <a:pathLst>
                  <a:path w="6447050" h="3469221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247007" cy="3252968"/>
              </a:xfrm>
              <a:custGeom>
                <a:avLst/>
                <a:gdLst/>
                <a:ahLst/>
                <a:cxnLst/>
                <a:rect l="l" t="t" r="r" b="b"/>
                <a:pathLst>
                  <a:path w="6247007" h="3252968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0" y="0"/>
              <a:ext cx="4114800" cy="12827209"/>
              <a:chOff x="0" y="0"/>
              <a:chExt cx="812800" cy="253377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812800" cy="253377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53377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2533770"/>
                    </a:lnTo>
                    <a:lnTo>
                      <a:pt x="0" y="2533770"/>
                    </a:lnTo>
                    <a:close/>
                  </a:path>
                </a:pathLst>
              </a:custGeom>
              <a:solidFill>
                <a:srgbClr val="508484"/>
              </a:solidFill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0" y="-28575"/>
                <a:ext cx="812800" cy="256234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260545" y="317890"/>
              <a:ext cx="4114800" cy="12139068"/>
              <a:chOff x="0" y="0"/>
              <a:chExt cx="812800" cy="2397841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812800" cy="2397841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397841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2397841"/>
                    </a:lnTo>
                    <a:lnTo>
                      <a:pt x="0" y="2397841"/>
                    </a:lnTo>
                    <a:close/>
                  </a:path>
                </a:pathLst>
              </a:custGeom>
              <a:solidFill>
                <a:srgbClr val="7CBBBB"/>
              </a:solidFill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0" y="-28575"/>
                <a:ext cx="812800" cy="242641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607108" y="689043"/>
              <a:ext cx="4172145" cy="11422256"/>
              <a:chOff x="0" y="0"/>
              <a:chExt cx="824127" cy="2256248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824127" cy="2256248"/>
              </a:xfrm>
              <a:custGeom>
                <a:avLst/>
                <a:gdLst/>
                <a:ahLst/>
                <a:cxnLst/>
                <a:rect l="l" t="t" r="r" b="b"/>
                <a:pathLst>
                  <a:path w="824127" h="2256248">
                    <a:moveTo>
                      <a:pt x="0" y="0"/>
                    </a:moveTo>
                    <a:lnTo>
                      <a:pt x="824127" y="0"/>
                    </a:lnTo>
                    <a:lnTo>
                      <a:pt x="824127" y="2256248"/>
                    </a:lnTo>
                    <a:lnTo>
                      <a:pt x="0" y="2256248"/>
                    </a:lnTo>
                    <a:close/>
                  </a:path>
                </a:pathLst>
              </a:custGeom>
              <a:solidFill>
                <a:srgbClr val="B5EFE3"/>
              </a:solidFill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0" y="-28575"/>
                <a:ext cx="824127" cy="228482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</p:grpSp>
      <p:grpSp>
        <p:nvGrpSpPr>
          <p:cNvPr id="21" name="Group 21"/>
          <p:cNvGrpSpPr/>
          <p:nvPr/>
        </p:nvGrpSpPr>
        <p:grpSpPr>
          <a:xfrm>
            <a:off x="10980471" y="1509420"/>
            <a:ext cx="5843356" cy="7270495"/>
            <a:chOff x="0" y="0"/>
            <a:chExt cx="7791142" cy="9693993"/>
          </a:xfrm>
        </p:grpSpPr>
        <p:pic>
          <p:nvPicPr>
            <p:cNvPr id="22" name="Picture 22"/>
            <p:cNvPicPr>
              <a:picLocks noChangeAspect="1"/>
            </p:cNvPicPr>
            <p:nvPr/>
          </p:nvPicPr>
          <p:blipFill>
            <a:blip r:embed="rId2"/>
            <a:srcRect l="9814" r="9814"/>
            <a:stretch>
              <a:fillRect/>
            </a:stretch>
          </p:blipFill>
          <p:spPr>
            <a:xfrm>
              <a:off x="0" y="0"/>
              <a:ext cx="7791142" cy="9693993"/>
            </a:xfrm>
            <a:prstGeom prst="rect">
              <a:avLst/>
            </a:prstGeom>
          </p:spPr>
        </p:pic>
      </p:grpSp>
      <p:sp>
        <p:nvSpPr>
          <p:cNvPr id="23" name="TextBox 23"/>
          <p:cNvSpPr txBox="1"/>
          <p:nvPr/>
        </p:nvSpPr>
        <p:spPr>
          <a:xfrm>
            <a:off x="2400760" y="2418238"/>
            <a:ext cx="7588554" cy="101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89"/>
              </a:lnSpc>
            </a:pPr>
            <a:r>
              <a:rPr lang="en-US" sz="6920" b="1" spc="2228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SOBRE MÍ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400760" y="3928125"/>
            <a:ext cx="6050682" cy="5419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32"/>
              </a:lnSpc>
            </a:pPr>
            <a:r>
              <a:rPr lang="en-US" sz="3624" i="1">
                <a:solidFill>
                  <a:srgbClr val="000000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Álvaro Martínez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494230" y="4850186"/>
            <a:ext cx="8827301" cy="42432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61"/>
              </a:lnSpc>
            </a:pP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Con una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amplia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experiencia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en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el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sector data e IA.</a:t>
            </a:r>
          </a:p>
          <a:p>
            <a:pPr algn="just">
              <a:lnSpc>
                <a:spcPts val="3661"/>
              </a:lnSpc>
            </a:pPr>
            <a:endParaRPr lang="en-US" sz="2377" dirty="0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  <a:p>
            <a:pPr algn="just">
              <a:lnSpc>
                <a:spcPts val="3661"/>
              </a:lnSpc>
            </a:pP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Apasionado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de Machine Learning,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intento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aplicar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clasificaciones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y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regresiones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a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todos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los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aspectos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de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negocio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. </a:t>
            </a:r>
          </a:p>
          <a:p>
            <a:pPr algn="just">
              <a:lnSpc>
                <a:spcPts val="3661"/>
              </a:lnSpc>
            </a:pPr>
            <a:endParaRPr lang="en-US" sz="2377" dirty="0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  <a:p>
            <a:pPr algn="just">
              <a:lnSpc>
                <a:spcPts val="3661"/>
              </a:lnSpc>
            </a:pP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Despues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de los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exitos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cosechados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en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proyectos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de python y bases de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datos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,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ahora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intento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adentrarme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en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el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maravilloso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mundo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de los </a:t>
            </a:r>
            <a:r>
              <a:rPr lang="en-US" sz="2377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modelos</a:t>
            </a:r>
            <a:r>
              <a:rPr lang="en-US" sz="2377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ML.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79705" y="333297"/>
            <a:ext cx="17451709" cy="9620406"/>
            <a:chOff x="0" y="0"/>
            <a:chExt cx="23268945" cy="12827209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619526" cy="3649071"/>
              </a:xfrm>
              <a:custGeom>
                <a:avLst/>
                <a:gdLst/>
                <a:ahLst/>
                <a:cxnLst/>
                <a:rect l="l" t="t" r="r" b="b"/>
                <a:pathLst>
                  <a:path w="6619526" h="3649071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447050" cy="3469221"/>
              </a:xfrm>
              <a:custGeom>
                <a:avLst/>
                <a:gdLst/>
                <a:ahLst/>
                <a:cxnLst/>
                <a:rect l="l" t="t" r="r" b="b"/>
                <a:pathLst>
                  <a:path w="6447050" h="3469221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247007" cy="3252968"/>
              </a:xfrm>
              <a:custGeom>
                <a:avLst/>
                <a:gdLst/>
                <a:ahLst/>
                <a:cxnLst/>
                <a:rect l="l" t="t" r="r" b="b"/>
                <a:pathLst>
                  <a:path w="6247007" h="3252968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3" name="Freeform 13"/>
            <p:cNvSpPr/>
            <p:nvPr/>
          </p:nvSpPr>
          <p:spPr>
            <a:xfrm>
              <a:off x="0" y="0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1578386" y="1862241"/>
            <a:ext cx="15131228" cy="1054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37"/>
              </a:lnSpc>
            </a:pPr>
            <a:r>
              <a:rPr lang="en-US" sz="7137" b="1" spc="2298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INTRODUCCIÓN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797819" y="3221894"/>
            <a:ext cx="8615481" cy="481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6"/>
              </a:lnSpc>
            </a:pPr>
            <a:r>
              <a:rPr lang="en-US" sz="3224" b="1" spc="70">
                <a:solidFill>
                  <a:srgbClr val="000000"/>
                </a:solidFill>
                <a:latin typeface="Raleway Semi-Bold"/>
                <a:ea typeface="Raleway Semi-Bold"/>
                <a:cs typeface="Raleway Semi-Bold"/>
                <a:sym typeface="Raleway Semi-Bold"/>
              </a:rPr>
              <a:t>TOWARS THE GLORY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78386" y="4088360"/>
            <a:ext cx="14769298" cy="5169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56"/>
              </a:lnSpc>
            </a:pP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Durante los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últimos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años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, la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preparación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olímpica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ha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evolucionado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desde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modelos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basados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en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intuición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y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observación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hacia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una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estrategia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guiada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por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datos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. </a:t>
            </a:r>
          </a:p>
          <a:p>
            <a:pPr algn="ctr">
              <a:lnSpc>
                <a:spcPts val="4156"/>
              </a:lnSpc>
            </a:pPr>
            <a:endParaRPr lang="en-US" sz="2534" dirty="0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  <a:p>
            <a:pPr algn="ctr">
              <a:lnSpc>
                <a:spcPts val="4156"/>
              </a:lnSpc>
            </a:pP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Las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federaciones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deportivas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compiten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en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un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entorno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donde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cada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detalle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cuenta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desde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la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edad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óptima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de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rendimiento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, hasta la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selección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del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equipo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, las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condiciones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del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evento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, la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evolución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histórica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del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atleta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o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el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nivel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de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competitividad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de la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disciplina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</a:p>
          <a:p>
            <a:pPr algn="ctr">
              <a:lnSpc>
                <a:spcPts val="4156"/>
              </a:lnSpc>
            </a:pPr>
            <a:endParaRPr lang="en-US" sz="2534" dirty="0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  <a:p>
            <a:pPr algn="ctr">
              <a:lnSpc>
                <a:spcPts val="4156"/>
              </a:lnSpc>
            </a:pP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Sin embargo, hasta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ahora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, disponer de un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sistema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capaz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de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predecir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el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resultado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final de un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atleta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—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incluyendo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si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ganará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medalla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o no—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basado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en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datos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reales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y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objetivos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, era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prácticamente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4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imposible</a:t>
            </a:r>
            <a:r>
              <a:rPr lang="en-US" sz="2534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379705" y="333297"/>
            <a:ext cx="17451709" cy="9620406"/>
            <a:chOff x="0" y="0"/>
            <a:chExt cx="23268945" cy="12827209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619526" cy="3649071"/>
              </a:xfrm>
              <a:custGeom>
                <a:avLst/>
                <a:gdLst/>
                <a:ahLst/>
                <a:cxnLst/>
                <a:rect l="l" t="t" r="r" b="b"/>
                <a:pathLst>
                  <a:path w="6619526" h="3649071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447050" cy="3469221"/>
              </a:xfrm>
              <a:custGeom>
                <a:avLst/>
                <a:gdLst/>
                <a:ahLst/>
                <a:cxnLst/>
                <a:rect l="l" t="t" r="r" b="b"/>
                <a:pathLst>
                  <a:path w="6447050" h="3469221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247007" cy="3252968"/>
              </a:xfrm>
              <a:custGeom>
                <a:avLst/>
                <a:gdLst/>
                <a:ahLst/>
                <a:cxnLst/>
                <a:rect l="l" t="t" r="r" b="b"/>
                <a:pathLst>
                  <a:path w="6247007" h="3252968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0" y="0"/>
              <a:ext cx="4114800" cy="12827209"/>
              <a:chOff x="0" y="0"/>
              <a:chExt cx="812800" cy="253377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812800" cy="253377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53377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2533770"/>
                    </a:lnTo>
                    <a:lnTo>
                      <a:pt x="0" y="2533770"/>
                    </a:lnTo>
                    <a:close/>
                  </a:path>
                </a:pathLst>
              </a:custGeom>
              <a:solidFill>
                <a:srgbClr val="508484"/>
              </a:solidFill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0" y="-28575"/>
                <a:ext cx="812800" cy="256234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260545" y="317890"/>
              <a:ext cx="4114800" cy="12139068"/>
              <a:chOff x="0" y="0"/>
              <a:chExt cx="812800" cy="2397841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812800" cy="2397841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397841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2397841"/>
                    </a:lnTo>
                    <a:lnTo>
                      <a:pt x="0" y="2397841"/>
                    </a:lnTo>
                    <a:close/>
                  </a:path>
                </a:pathLst>
              </a:custGeom>
              <a:solidFill>
                <a:srgbClr val="7CBBBB"/>
              </a:solidFill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0" y="-28575"/>
                <a:ext cx="812800" cy="242641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607108" y="689043"/>
              <a:ext cx="4172145" cy="11422256"/>
              <a:chOff x="0" y="0"/>
              <a:chExt cx="824127" cy="2256248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824127" cy="2256248"/>
              </a:xfrm>
              <a:custGeom>
                <a:avLst/>
                <a:gdLst/>
                <a:ahLst/>
                <a:cxnLst/>
                <a:rect l="l" t="t" r="r" b="b"/>
                <a:pathLst>
                  <a:path w="824127" h="2256248">
                    <a:moveTo>
                      <a:pt x="0" y="0"/>
                    </a:moveTo>
                    <a:lnTo>
                      <a:pt x="824127" y="0"/>
                    </a:lnTo>
                    <a:lnTo>
                      <a:pt x="824127" y="2256248"/>
                    </a:lnTo>
                    <a:lnTo>
                      <a:pt x="0" y="2256248"/>
                    </a:lnTo>
                    <a:close/>
                  </a:path>
                </a:pathLst>
              </a:custGeom>
              <a:solidFill>
                <a:srgbClr val="B5EFE3"/>
              </a:solidFill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0" y="-28575"/>
                <a:ext cx="824127" cy="228482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</p:grpSp>
      <p:sp>
        <p:nvSpPr>
          <p:cNvPr id="21" name="TextBox 21"/>
          <p:cNvSpPr txBox="1"/>
          <p:nvPr/>
        </p:nvSpPr>
        <p:spPr>
          <a:xfrm>
            <a:off x="1166769" y="1024116"/>
            <a:ext cx="13729343" cy="8100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686"/>
              </a:lnSpc>
            </a:pPr>
            <a:r>
              <a:rPr lang="en-US" sz="5400" b="1" spc="1888" dirty="0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¿QUÉ HACE EL MODELO?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265216" y="2394630"/>
            <a:ext cx="5451412" cy="4480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109" b="1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Analizar patrones históricos desde 1970 de datos olímpicos, </a:t>
            </a:r>
            <a:r>
              <a:rPr lang="en-US" sz="210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incluyendo:</a:t>
            </a:r>
          </a:p>
          <a:p>
            <a:pPr marL="455536" lvl="1" indent="-227768" algn="l">
              <a:lnSpc>
                <a:spcPts val="3249"/>
              </a:lnSpc>
              <a:buFont typeface="Arial"/>
              <a:buChar char="•"/>
            </a:pPr>
            <a:r>
              <a:rPr lang="en-US" sz="210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Características físicas del atleta (edad, sexo, altura, peso)</a:t>
            </a:r>
          </a:p>
          <a:p>
            <a:pPr marL="455536" lvl="1" indent="-227768" algn="l">
              <a:lnSpc>
                <a:spcPts val="3249"/>
              </a:lnSpc>
              <a:buFont typeface="Arial"/>
              <a:buChar char="•"/>
            </a:pPr>
            <a:r>
              <a:rPr lang="en-US" sz="210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Participación en ediciones anteriores</a:t>
            </a:r>
          </a:p>
          <a:p>
            <a:pPr marL="455536" lvl="1" indent="-227768" algn="l">
              <a:lnSpc>
                <a:spcPts val="3249"/>
              </a:lnSpc>
              <a:buFont typeface="Arial"/>
              <a:buChar char="•"/>
            </a:pPr>
            <a:r>
              <a:rPr lang="en-US" sz="210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País o federación a la que pertenece</a:t>
            </a:r>
          </a:p>
          <a:p>
            <a:pPr marL="455536" lvl="1" indent="-227768" algn="l">
              <a:lnSpc>
                <a:spcPts val="3249"/>
              </a:lnSpc>
              <a:buFont typeface="Arial"/>
              <a:buChar char="•"/>
            </a:pPr>
            <a:r>
              <a:rPr lang="en-US" sz="210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Características del evento y la sede</a:t>
            </a:r>
          </a:p>
          <a:p>
            <a:pPr marL="455536" lvl="1" indent="-227768" algn="l">
              <a:lnSpc>
                <a:spcPts val="3249"/>
              </a:lnSpc>
              <a:buFont typeface="Arial"/>
              <a:buChar char="•"/>
            </a:pPr>
            <a:r>
              <a:rPr lang="en-US" sz="210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Disciplina deportiva</a:t>
            </a:r>
          </a:p>
          <a:p>
            <a:pPr algn="l">
              <a:lnSpc>
                <a:spcPts val="3249"/>
              </a:lnSpc>
            </a:pPr>
            <a:endParaRPr lang="en-US" sz="2109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9103379" y="2464220"/>
            <a:ext cx="4953002" cy="3838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03"/>
              </a:lnSpc>
            </a:pPr>
            <a:r>
              <a:rPr lang="en-US" sz="2209" b="1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Procesar y estandarizar la información</a:t>
            </a:r>
            <a:r>
              <a:rPr lang="en-US" sz="220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, el sistema genera una predicción en tiempo real que asigna:</a:t>
            </a:r>
          </a:p>
          <a:p>
            <a:pPr marL="477125" lvl="1" indent="-238562" algn="l">
              <a:lnSpc>
                <a:spcPts val="3403"/>
              </a:lnSpc>
              <a:buFont typeface="Arial"/>
              <a:buChar char="•"/>
            </a:pPr>
            <a:r>
              <a:rPr lang="en-US" sz="220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1 = Oro</a:t>
            </a:r>
          </a:p>
          <a:p>
            <a:pPr marL="477125" lvl="1" indent="-238562" algn="l">
              <a:lnSpc>
                <a:spcPts val="3403"/>
              </a:lnSpc>
              <a:buFont typeface="Arial"/>
              <a:buChar char="•"/>
            </a:pPr>
            <a:r>
              <a:rPr lang="en-US" sz="220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2 = Plata</a:t>
            </a:r>
          </a:p>
          <a:p>
            <a:pPr marL="477125" lvl="1" indent="-238562" algn="l">
              <a:lnSpc>
                <a:spcPts val="3403"/>
              </a:lnSpc>
              <a:buFont typeface="Arial"/>
              <a:buChar char="•"/>
            </a:pPr>
            <a:r>
              <a:rPr lang="en-US" sz="220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3 = Bronce</a:t>
            </a:r>
          </a:p>
          <a:p>
            <a:pPr marL="477125" lvl="1" indent="-238562" algn="l">
              <a:lnSpc>
                <a:spcPts val="3403"/>
              </a:lnSpc>
              <a:buFont typeface="Arial"/>
              <a:buChar char="•"/>
            </a:pPr>
            <a:r>
              <a:rPr lang="en-US" sz="220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0 = Sin medalla</a:t>
            </a:r>
          </a:p>
          <a:p>
            <a:pPr algn="l">
              <a:lnSpc>
                <a:spcPts val="3403"/>
              </a:lnSpc>
            </a:pPr>
            <a:endParaRPr lang="en-US" sz="2209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2265216" y="6961248"/>
            <a:ext cx="11632325" cy="2552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03"/>
              </a:lnSpc>
            </a:pPr>
            <a:r>
              <a:rPr lang="en-US" sz="2209" b="1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Combinar:</a:t>
            </a:r>
          </a:p>
          <a:p>
            <a:pPr marL="477125" lvl="1" indent="-238562" algn="l">
              <a:lnSpc>
                <a:spcPts val="3403"/>
              </a:lnSpc>
              <a:buFont typeface="Arial"/>
              <a:buChar char="•"/>
            </a:pPr>
            <a:r>
              <a:rPr lang="en-US" sz="220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algoritmos de machine learning,</a:t>
            </a:r>
          </a:p>
          <a:p>
            <a:pPr marL="477125" lvl="1" indent="-238562" algn="l">
              <a:lnSpc>
                <a:spcPts val="3403"/>
              </a:lnSpc>
              <a:buFont typeface="Arial"/>
              <a:buChar char="•"/>
            </a:pPr>
            <a:r>
              <a:rPr lang="en-US" sz="220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tratamiento avanzado del desbalanceo de clases</a:t>
            </a:r>
          </a:p>
          <a:p>
            <a:pPr marL="477125" lvl="1" indent="-238562" algn="l">
              <a:lnSpc>
                <a:spcPts val="3403"/>
              </a:lnSpc>
              <a:buFont typeface="Arial"/>
              <a:buChar char="•"/>
            </a:pPr>
            <a:r>
              <a:rPr lang="en-US" sz="220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Optimización por F1-macro para que el modelo funcione bien en todas las categorías por igual, no solo en la clase mayoritaria.</a:t>
            </a:r>
          </a:p>
          <a:p>
            <a:pPr algn="l">
              <a:lnSpc>
                <a:spcPts val="3403"/>
              </a:lnSpc>
            </a:pPr>
            <a:endParaRPr lang="en-US" sz="2209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25" name="Freeform 25"/>
          <p:cNvSpPr/>
          <p:nvPr/>
        </p:nvSpPr>
        <p:spPr>
          <a:xfrm>
            <a:off x="1294935" y="2194935"/>
            <a:ext cx="617607" cy="1132280"/>
          </a:xfrm>
          <a:custGeom>
            <a:avLst/>
            <a:gdLst/>
            <a:ahLst/>
            <a:cxnLst/>
            <a:rect l="l" t="t" r="r" b="b"/>
            <a:pathLst>
              <a:path w="617607" h="1132280">
                <a:moveTo>
                  <a:pt x="0" y="0"/>
                </a:moveTo>
                <a:lnTo>
                  <a:pt x="617607" y="0"/>
                </a:lnTo>
                <a:lnTo>
                  <a:pt x="617607" y="1132280"/>
                </a:lnTo>
                <a:lnTo>
                  <a:pt x="0" y="11322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26" name="Freeform 26"/>
          <p:cNvSpPr/>
          <p:nvPr/>
        </p:nvSpPr>
        <p:spPr>
          <a:xfrm>
            <a:off x="8081379" y="2282023"/>
            <a:ext cx="740353" cy="958104"/>
          </a:xfrm>
          <a:custGeom>
            <a:avLst/>
            <a:gdLst/>
            <a:ahLst/>
            <a:cxnLst/>
            <a:rect l="l" t="t" r="r" b="b"/>
            <a:pathLst>
              <a:path w="740353" h="958104">
                <a:moveTo>
                  <a:pt x="0" y="0"/>
                </a:moveTo>
                <a:lnTo>
                  <a:pt x="740353" y="0"/>
                </a:lnTo>
                <a:lnTo>
                  <a:pt x="740353" y="958104"/>
                </a:lnTo>
                <a:lnTo>
                  <a:pt x="0" y="9581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1294935" y="6875523"/>
            <a:ext cx="520971" cy="968020"/>
          </a:xfrm>
          <a:custGeom>
            <a:avLst/>
            <a:gdLst/>
            <a:ahLst/>
            <a:cxnLst/>
            <a:rect l="l" t="t" r="r" b="b"/>
            <a:pathLst>
              <a:path w="520971" h="968020">
                <a:moveTo>
                  <a:pt x="0" y="0"/>
                </a:moveTo>
                <a:lnTo>
                  <a:pt x="520971" y="0"/>
                </a:lnTo>
                <a:lnTo>
                  <a:pt x="520971" y="968019"/>
                </a:lnTo>
                <a:lnTo>
                  <a:pt x="0" y="96801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79705" y="333297"/>
            <a:ext cx="17451709" cy="9620406"/>
            <a:chOff x="0" y="0"/>
            <a:chExt cx="23268945" cy="12827209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619526" cy="3649071"/>
              </a:xfrm>
              <a:custGeom>
                <a:avLst/>
                <a:gdLst/>
                <a:ahLst/>
                <a:cxnLst/>
                <a:rect l="l" t="t" r="r" b="b"/>
                <a:pathLst>
                  <a:path w="6619526" h="3649071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447050" cy="3469221"/>
              </a:xfrm>
              <a:custGeom>
                <a:avLst/>
                <a:gdLst/>
                <a:ahLst/>
                <a:cxnLst/>
                <a:rect l="l" t="t" r="r" b="b"/>
                <a:pathLst>
                  <a:path w="6447050" h="3469221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247007" cy="3252968"/>
              </a:xfrm>
              <a:custGeom>
                <a:avLst/>
                <a:gdLst/>
                <a:ahLst/>
                <a:cxnLst/>
                <a:rect l="l" t="t" r="r" b="b"/>
                <a:pathLst>
                  <a:path w="6247007" h="3252968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0" y="0"/>
              <a:ext cx="4114800" cy="12827209"/>
              <a:chOff x="0" y="0"/>
              <a:chExt cx="812800" cy="253377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812800" cy="253377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53377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2533770"/>
                    </a:lnTo>
                    <a:lnTo>
                      <a:pt x="0" y="2533770"/>
                    </a:lnTo>
                    <a:close/>
                  </a:path>
                </a:pathLst>
              </a:custGeom>
              <a:solidFill>
                <a:srgbClr val="508484"/>
              </a:solidFill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0" y="-28575"/>
                <a:ext cx="812800" cy="256234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260545" y="317890"/>
              <a:ext cx="4114800" cy="12139068"/>
              <a:chOff x="0" y="0"/>
              <a:chExt cx="812800" cy="2397841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812800" cy="2397841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397841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2397841"/>
                    </a:lnTo>
                    <a:lnTo>
                      <a:pt x="0" y="2397841"/>
                    </a:lnTo>
                    <a:close/>
                  </a:path>
                </a:pathLst>
              </a:custGeom>
              <a:solidFill>
                <a:srgbClr val="7CBBBB"/>
              </a:solidFill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0" y="-28575"/>
                <a:ext cx="812800" cy="242641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607108" y="689043"/>
              <a:ext cx="4172145" cy="11422256"/>
              <a:chOff x="0" y="0"/>
              <a:chExt cx="824127" cy="2256248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824127" cy="2256248"/>
              </a:xfrm>
              <a:custGeom>
                <a:avLst/>
                <a:gdLst/>
                <a:ahLst/>
                <a:cxnLst/>
                <a:rect l="l" t="t" r="r" b="b"/>
                <a:pathLst>
                  <a:path w="824127" h="2256248">
                    <a:moveTo>
                      <a:pt x="0" y="0"/>
                    </a:moveTo>
                    <a:lnTo>
                      <a:pt x="824127" y="0"/>
                    </a:lnTo>
                    <a:lnTo>
                      <a:pt x="824127" y="2256248"/>
                    </a:lnTo>
                    <a:lnTo>
                      <a:pt x="0" y="2256248"/>
                    </a:lnTo>
                    <a:close/>
                  </a:path>
                </a:pathLst>
              </a:custGeom>
              <a:solidFill>
                <a:srgbClr val="B5EFE3"/>
              </a:solidFill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0" y="-28575"/>
                <a:ext cx="824127" cy="228482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</p:grpSp>
      <p:sp>
        <p:nvSpPr>
          <p:cNvPr id="21" name="TextBox 21"/>
          <p:cNvSpPr txBox="1"/>
          <p:nvPr/>
        </p:nvSpPr>
        <p:spPr>
          <a:xfrm>
            <a:off x="4287091" y="1169458"/>
            <a:ext cx="14305662" cy="7232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9"/>
              </a:lnSpc>
            </a:pPr>
            <a:r>
              <a:rPr lang="en-US" sz="4920" b="1" spc="1584" dirty="0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¿POR QUE ES IMPORTANTE?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212166" y="3610610"/>
            <a:ext cx="11229700" cy="1532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80"/>
              </a:lnSpc>
            </a:pPr>
            <a:r>
              <a:rPr lang="en-US" sz="2000" b="1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Optimización del presupuesto</a:t>
            </a:r>
          </a:p>
          <a:p>
            <a:pPr algn="l">
              <a:lnSpc>
                <a:spcPts val="3080"/>
              </a:lnSpc>
            </a:pPr>
            <a:r>
              <a:rPr lang="en-US" sz="20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Invertir en preparación olímpica es costoso. La predicción ayuda a focalizar recursos en aquellos deportistas o disciplinas con mayor retorno competitivo.</a:t>
            </a:r>
          </a:p>
          <a:p>
            <a:pPr algn="l">
              <a:lnSpc>
                <a:spcPts val="3080"/>
              </a:lnSpc>
            </a:pPr>
            <a:endParaRPr lang="en-US" sz="2000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5212166" y="5154806"/>
            <a:ext cx="12047134" cy="1532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80"/>
              </a:lnSpc>
            </a:pPr>
            <a:r>
              <a:rPr lang="en-US" sz="20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000" b="1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Monitorización objetiva del progreso del atleta</a:t>
            </a:r>
          </a:p>
          <a:p>
            <a:pPr algn="l">
              <a:lnSpc>
                <a:spcPts val="3080"/>
              </a:lnSpc>
            </a:pPr>
            <a:r>
              <a:rPr lang="en-US" sz="20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El sistema permite comparar expectativas vs. rendimiento real, midiendo si un atleta se aleja o acerca a la probabilidad de medalla.</a:t>
            </a:r>
          </a:p>
          <a:p>
            <a:pPr algn="l">
              <a:lnSpc>
                <a:spcPts val="3080"/>
              </a:lnSpc>
            </a:pPr>
            <a:endParaRPr lang="en-US" sz="2000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5212166" y="2183297"/>
            <a:ext cx="12047134" cy="1044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 b="1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Detección temprana del potencial de medalla</a:t>
            </a:r>
          </a:p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Permite identificar a los atletas con mayor probabilidad de éxito y priorizar entrenamientos, becas, programas de alto rendimiento o participación en competiciones internacionales.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212166" y="7087746"/>
            <a:ext cx="9740109" cy="1044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 b="1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Toma de decisiones basada en datos, no en intuiciones</a:t>
            </a:r>
          </a:p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Muchos países toman decisiones estratégicas basándose en percepciones subjetivas. El modelo introduce objetividad y evidencia cuantitativa.</a:t>
            </a:r>
          </a:p>
        </p:txBody>
      </p:sp>
      <p:sp>
        <p:nvSpPr>
          <p:cNvPr id="26" name="Freeform 26"/>
          <p:cNvSpPr/>
          <p:nvPr/>
        </p:nvSpPr>
        <p:spPr>
          <a:xfrm>
            <a:off x="4233894" y="2379617"/>
            <a:ext cx="676235" cy="690035"/>
          </a:xfrm>
          <a:custGeom>
            <a:avLst/>
            <a:gdLst/>
            <a:ahLst/>
            <a:cxnLst/>
            <a:rect l="l" t="t" r="r" b="b"/>
            <a:pathLst>
              <a:path w="676235" h="690035">
                <a:moveTo>
                  <a:pt x="0" y="0"/>
                </a:moveTo>
                <a:lnTo>
                  <a:pt x="676234" y="0"/>
                </a:lnTo>
                <a:lnTo>
                  <a:pt x="676234" y="690035"/>
                </a:lnTo>
                <a:lnTo>
                  <a:pt x="0" y="6900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4071395" y="5406364"/>
            <a:ext cx="891931" cy="737870"/>
          </a:xfrm>
          <a:custGeom>
            <a:avLst/>
            <a:gdLst/>
            <a:ahLst/>
            <a:cxnLst/>
            <a:rect l="l" t="t" r="r" b="b"/>
            <a:pathLst>
              <a:path w="891931" h="737870">
                <a:moveTo>
                  <a:pt x="0" y="0"/>
                </a:moveTo>
                <a:lnTo>
                  <a:pt x="891930" y="0"/>
                </a:lnTo>
                <a:lnTo>
                  <a:pt x="891930" y="737870"/>
                </a:lnTo>
                <a:lnTo>
                  <a:pt x="0" y="73787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4107064" y="3915927"/>
            <a:ext cx="929893" cy="644162"/>
          </a:xfrm>
          <a:custGeom>
            <a:avLst/>
            <a:gdLst/>
            <a:ahLst/>
            <a:cxnLst/>
            <a:rect l="l" t="t" r="r" b="b"/>
            <a:pathLst>
              <a:path w="929893" h="644162">
                <a:moveTo>
                  <a:pt x="0" y="0"/>
                </a:moveTo>
                <a:lnTo>
                  <a:pt x="929894" y="0"/>
                </a:lnTo>
                <a:lnTo>
                  <a:pt x="929894" y="644162"/>
                </a:lnTo>
                <a:lnTo>
                  <a:pt x="0" y="64416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>
            <a:off x="4287091" y="7144968"/>
            <a:ext cx="569841" cy="829133"/>
          </a:xfrm>
          <a:custGeom>
            <a:avLst/>
            <a:gdLst/>
            <a:ahLst/>
            <a:cxnLst/>
            <a:rect l="l" t="t" r="r" b="b"/>
            <a:pathLst>
              <a:path w="569841" h="829133">
                <a:moveTo>
                  <a:pt x="0" y="0"/>
                </a:moveTo>
                <a:lnTo>
                  <a:pt x="569840" y="0"/>
                </a:lnTo>
                <a:lnTo>
                  <a:pt x="569840" y="829133"/>
                </a:lnTo>
                <a:lnTo>
                  <a:pt x="0" y="82913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379705" y="333297"/>
            <a:ext cx="17451709" cy="9620406"/>
            <a:chOff x="0" y="0"/>
            <a:chExt cx="23268945" cy="12827209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619526" cy="3649071"/>
              </a:xfrm>
              <a:custGeom>
                <a:avLst/>
                <a:gdLst/>
                <a:ahLst/>
                <a:cxnLst/>
                <a:rect l="l" t="t" r="r" b="b"/>
                <a:pathLst>
                  <a:path w="6619526" h="3649071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447050" cy="3469221"/>
              </a:xfrm>
              <a:custGeom>
                <a:avLst/>
                <a:gdLst/>
                <a:ahLst/>
                <a:cxnLst/>
                <a:rect l="l" t="t" r="r" b="b"/>
                <a:pathLst>
                  <a:path w="6447050" h="3469221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675815" y="673263"/>
              <a:ext cx="21959466" cy="11434829"/>
              <a:chOff x="0" y="0"/>
              <a:chExt cx="6247007" cy="325296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247007" cy="3252968"/>
              </a:xfrm>
              <a:custGeom>
                <a:avLst/>
                <a:gdLst/>
                <a:ahLst/>
                <a:cxnLst/>
                <a:rect l="l" t="t" r="r" b="b"/>
                <a:pathLst>
                  <a:path w="6247007" h="3252968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 rot="5400000">
              <a:off x="18828976" y="0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pic>
        <p:nvPicPr>
          <p:cNvPr id="13" name="Pictur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674" y="854005"/>
            <a:ext cx="17678575" cy="9549394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326299" y="1306678"/>
            <a:ext cx="19554929" cy="8237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383"/>
              </a:lnSpc>
            </a:pPr>
            <a:r>
              <a:rPr lang="en-US" sz="5599" b="1" spc="1803">
                <a:solidFill>
                  <a:srgbClr val="000000"/>
                </a:solidFill>
                <a:latin typeface="Raleway Heavy"/>
                <a:ea typeface="Raleway Heavy"/>
                <a:cs typeface="Raleway Heavy"/>
                <a:sym typeface="Raleway Heavy"/>
              </a:rPr>
              <a:t>ESTRUCTURA DEL PROYECTO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726889" y="8632369"/>
            <a:ext cx="3452180" cy="509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b="1">
                <a:solidFill>
                  <a:srgbClr val="054B91"/>
                </a:solidFill>
                <a:latin typeface="Poppins Bold"/>
                <a:ea typeface="Poppins Bold"/>
                <a:cs typeface="Poppins Bold"/>
                <a:sym typeface="Poppins Bold"/>
              </a:rPr>
              <a:t>Limpieza de datos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82840" y="5151306"/>
            <a:ext cx="3452180" cy="1005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b="1">
                <a:solidFill>
                  <a:srgbClr val="054B91"/>
                </a:solidFill>
                <a:latin typeface="Poppins Bold"/>
                <a:ea typeface="Poppins Bold"/>
                <a:cs typeface="Poppins Bold"/>
                <a:sym typeface="Poppins Bold"/>
              </a:rPr>
              <a:t>Exploratory Data Analysis (EDA)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342495" y="6642286"/>
            <a:ext cx="4622280" cy="1500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b="1">
                <a:solidFill>
                  <a:srgbClr val="054B91"/>
                </a:solidFill>
                <a:latin typeface="Poppins Bold"/>
                <a:ea typeface="Poppins Bold"/>
                <a:cs typeface="Poppins Bold"/>
                <a:sym typeface="Poppins Bold"/>
              </a:rPr>
              <a:t>Modelado baseline &amp;</a:t>
            </a:r>
          </a:p>
          <a:p>
            <a:pPr algn="ctr">
              <a:lnSpc>
                <a:spcPts val="3919"/>
              </a:lnSpc>
            </a:pPr>
            <a:r>
              <a:rPr lang="en-US" sz="2799" b="1">
                <a:solidFill>
                  <a:srgbClr val="054B91"/>
                </a:solidFill>
                <a:latin typeface="Poppins Bold"/>
                <a:ea typeface="Poppins Bold"/>
                <a:cs typeface="Poppins Bold"/>
                <a:sym typeface="Poppins Bold"/>
              </a:rPr>
              <a:t>optimización de balanceo de target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098184" y="2593336"/>
            <a:ext cx="5134199" cy="1005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b="1">
                <a:solidFill>
                  <a:srgbClr val="054B91"/>
                </a:solidFill>
                <a:latin typeface="Poppins Bold"/>
                <a:ea typeface="Poppins Bold"/>
                <a:cs typeface="Poppins Bold"/>
                <a:sym typeface="Poppins Bold"/>
              </a:rPr>
              <a:t>Optimización  de  modelo &amp;</a:t>
            </a:r>
          </a:p>
          <a:p>
            <a:pPr algn="ctr">
              <a:lnSpc>
                <a:spcPts val="3919"/>
              </a:lnSpc>
            </a:pPr>
            <a:r>
              <a:rPr lang="en-US" sz="2799" b="1">
                <a:solidFill>
                  <a:srgbClr val="054B91"/>
                </a:solidFill>
                <a:latin typeface="Poppins Bold"/>
                <a:ea typeface="Poppins Bold"/>
                <a:cs typeface="Poppins Bold"/>
                <a:sym typeface="Poppins Bold"/>
              </a:rPr>
              <a:t>hiperparámetros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79705" y="9925128"/>
            <a:ext cx="17451709" cy="281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44"/>
              </a:lnSpc>
              <a:spcBef>
                <a:spcPct val="0"/>
              </a:spcBef>
            </a:pPr>
            <a:r>
              <a:rPr lang="en-US" sz="1674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Streamlit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3612513" y="3053076"/>
            <a:ext cx="3452180" cy="1005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b="1">
                <a:solidFill>
                  <a:srgbClr val="054B91"/>
                </a:solidFill>
                <a:latin typeface="Poppins Bold"/>
                <a:ea typeface="Poppins Bold"/>
                <a:cs typeface="Poppins Bold"/>
                <a:sym typeface="Poppins Bold"/>
              </a:rPr>
              <a:t>Visualización &amp; Streamlit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84026" y="3316578"/>
            <a:ext cx="10193493" cy="4763141"/>
          </a:xfrm>
          <a:custGeom>
            <a:avLst/>
            <a:gdLst/>
            <a:ahLst/>
            <a:cxnLst/>
            <a:rect l="l" t="t" r="r" b="b"/>
            <a:pathLst>
              <a:path w="10193493" h="4763141">
                <a:moveTo>
                  <a:pt x="0" y="0"/>
                </a:moveTo>
                <a:lnTo>
                  <a:pt x="10193494" y="0"/>
                </a:lnTo>
                <a:lnTo>
                  <a:pt x="10193494" y="4763142"/>
                </a:lnTo>
                <a:lnTo>
                  <a:pt x="0" y="47631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379705" y="323082"/>
            <a:ext cx="17521266" cy="9669006"/>
            <a:chOff x="0" y="0"/>
            <a:chExt cx="23361689" cy="12892008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13674"/>
              <a:ext cx="23361689" cy="12878334"/>
              <a:chOff x="0" y="0"/>
              <a:chExt cx="6619526" cy="3649071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6619526" cy="3649071"/>
              </a:xfrm>
              <a:custGeom>
                <a:avLst/>
                <a:gdLst/>
                <a:ahLst/>
                <a:cxnLst/>
                <a:rect l="l" t="t" r="r" b="b"/>
                <a:pathLst>
                  <a:path w="6619526" h="3649071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/>
            <p:nvPr/>
          </p:nvGrpSpPr>
          <p:grpSpPr>
            <a:xfrm>
              <a:off x="294318" y="308021"/>
              <a:ext cx="22752985" cy="12243604"/>
              <a:chOff x="0" y="0"/>
              <a:chExt cx="6447050" cy="3469221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6447050" cy="3469221"/>
              </a:xfrm>
              <a:custGeom>
                <a:avLst/>
                <a:gdLst/>
                <a:ahLst/>
                <a:cxnLst/>
                <a:rect l="l" t="t" r="r" b="b"/>
                <a:pathLst>
                  <a:path w="6447050" h="3469221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678509" y="705780"/>
              <a:ext cx="22046990" cy="11480405"/>
              <a:chOff x="0" y="0"/>
              <a:chExt cx="6247007" cy="3252969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6247007" cy="3252968"/>
              </a:xfrm>
              <a:custGeom>
                <a:avLst/>
                <a:gdLst/>
                <a:ahLst/>
                <a:cxnLst/>
                <a:rect l="l" t="t" r="r" b="b"/>
                <a:pathLst>
                  <a:path w="6247007" h="3252968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sp>
          <p:nvSpPr>
            <p:cNvPr id="13" name="Freeform 13"/>
            <p:cNvSpPr/>
            <p:nvPr/>
          </p:nvSpPr>
          <p:spPr>
            <a:xfrm>
              <a:off x="0" y="13674"/>
              <a:ext cx="4457666" cy="4457666"/>
            </a:xfrm>
            <a:custGeom>
              <a:avLst/>
              <a:gdLst/>
              <a:ahLst/>
              <a:cxnLst/>
              <a:rect l="l" t="t" r="r" b="b"/>
              <a:pathLst>
                <a:path w="4457666" h="4457666">
                  <a:moveTo>
                    <a:pt x="0" y="0"/>
                  </a:moveTo>
                  <a:lnTo>
                    <a:pt x="4457666" y="0"/>
                  </a:lnTo>
                  <a:lnTo>
                    <a:pt x="4457666" y="4457666"/>
                  </a:lnTo>
                  <a:lnTo>
                    <a:pt x="0" y="44576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4" name="Freeform 14"/>
            <p:cNvSpPr/>
            <p:nvPr/>
          </p:nvSpPr>
          <p:spPr>
            <a:xfrm rot="5400000">
              <a:off x="18904022" y="0"/>
              <a:ext cx="4457666" cy="4457666"/>
            </a:xfrm>
            <a:custGeom>
              <a:avLst/>
              <a:gdLst/>
              <a:ahLst/>
              <a:cxnLst/>
              <a:rect l="l" t="t" r="r" b="b"/>
              <a:pathLst>
                <a:path w="4457666" h="4457666">
                  <a:moveTo>
                    <a:pt x="0" y="0"/>
                  </a:moveTo>
                  <a:lnTo>
                    <a:pt x="4457667" y="0"/>
                  </a:lnTo>
                  <a:lnTo>
                    <a:pt x="4457667" y="4457666"/>
                  </a:lnTo>
                  <a:lnTo>
                    <a:pt x="0" y="44576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5" name="Freeform 15"/>
          <p:cNvSpPr/>
          <p:nvPr/>
        </p:nvSpPr>
        <p:spPr>
          <a:xfrm>
            <a:off x="6584026" y="3487912"/>
            <a:ext cx="4508412" cy="4475624"/>
          </a:xfrm>
          <a:custGeom>
            <a:avLst/>
            <a:gdLst/>
            <a:ahLst/>
            <a:cxnLst/>
            <a:rect l="l" t="t" r="r" b="b"/>
            <a:pathLst>
              <a:path w="4508412" h="4475624">
                <a:moveTo>
                  <a:pt x="0" y="0"/>
                </a:moveTo>
                <a:lnTo>
                  <a:pt x="4508413" y="0"/>
                </a:lnTo>
                <a:lnTo>
                  <a:pt x="4508413" y="4475624"/>
                </a:lnTo>
                <a:lnTo>
                  <a:pt x="0" y="44756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216741" y="7120490"/>
            <a:ext cx="3367285" cy="1108143"/>
          </a:xfrm>
          <a:custGeom>
            <a:avLst/>
            <a:gdLst/>
            <a:ahLst/>
            <a:cxnLst/>
            <a:rect l="l" t="t" r="r" b="b"/>
            <a:pathLst>
              <a:path w="3367285" h="1108143">
                <a:moveTo>
                  <a:pt x="0" y="0"/>
                </a:moveTo>
                <a:lnTo>
                  <a:pt x="3367285" y="0"/>
                </a:lnTo>
                <a:lnTo>
                  <a:pt x="3367285" y="1108143"/>
                </a:lnTo>
                <a:lnTo>
                  <a:pt x="0" y="110814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2828175" y="1389886"/>
            <a:ext cx="11974456" cy="101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89"/>
              </a:lnSpc>
            </a:pPr>
            <a:r>
              <a:rPr lang="en-US" sz="6920" b="1" spc="2228">
                <a:solidFill>
                  <a:srgbClr val="27403B"/>
                </a:solidFill>
                <a:latin typeface="Raleway Bold"/>
                <a:ea typeface="Raleway Bold"/>
                <a:cs typeface="Raleway Bold"/>
                <a:sym typeface="Raleway Bold"/>
              </a:rPr>
              <a:t>ESCALADO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680773" y="3604940"/>
            <a:ext cx="4364189" cy="85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56"/>
              </a:lnSpc>
            </a:pPr>
            <a:r>
              <a:rPr lang="en-US" sz="2168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Optimización balanceo &amp; hiperparametros (Optuna)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680773" y="5252912"/>
            <a:ext cx="4889541" cy="85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56"/>
              </a:lnSpc>
            </a:pPr>
            <a:r>
              <a:rPr lang="en-US" sz="2168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Enriquecimiento de datos (horas entrenamiento, inversión)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705150" y="7034765"/>
            <a:ext cx="4339812" cy="412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56"/>
              </a:lnSpc>
            </a:pPr>
            <a:r>
              <a:rPr lang="en-US" sz="2168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Aplicación de Deep Learning</a:t>
            </a:r>
          </a:p>
        </p:txBody>
      </p:sp>
      <p:sp>
        <p:nvSpPr>
          <p:cNvPr id="21" name="Freeform 21"/>
          <p:cNvSpPr/>
          <p:nvPr/>
        </p:nvSpPr>
        <p:spPr>
          <a:xfrm flipV="1">
            <a:off x="2597829" y="2765931"/>
            <a:ext cx="3986198" cy="1311821"/>
          </a:xfrm>
          <a:custGeom>
            <a:avLst/>
            <a:gdLst/>
            <a:ahLst/>
            <a:cxnLst/>
            <a:rect l="l" t="t" r="r" b="b"/>
            <a:pathLst>
              <a:path w="3986198" h="1311821">
                <a:moveTo>
                  <a:pt x="0" y="1311821"/>
                </a:moveTo>
                <a:lnTo>
                  <a:pt x="3986197" y="1311821"/>
                </a:lnTo>
                <a:lnTo>
                  <a:pt x="3986197" y="0"/>
                </a:lnTo>
                <a:lnTo>
                  <a:pt x="0" y="0"/>
                </a:lnTo>
                <a:lnTo>
                  <a:pt x="0" y="1311821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79705" y="323082"/>
            <a:ext cx="17451709" cy="9643754"/>
            <a:chOff x="0" y="0"/>
            <a:chExt cx="23268945" cy="1285833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13620"/>
              <a:ext cx="23268945" cy="12827209"/>
              <a:chOff x="0" y="0"/>
              <a:chExt cx="6619526" cy="3649071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619526" cy="3649071"/>
              </a:xfrm>
              <a:custGeom>
                <a:avLst/>
                <a:gdLst/>
                <a:ahLst/>
                <a:cxnLst/>
                <a:rect l="l" t="t" r="r" b="b"/>
                <a:pathLst>
                  <a:path w="6619526" h="3649071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293149" y="306799"/>
              <a:ext cx="22662658" cy="12194998"/>
              <a:chOff x="0" y="0"/>
              <a:chExt cx="6447050" cy="3469221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447050" cy="3469221"/>
              </a:xfrm>
              <a:custGeom>
                <a:avLst/>
                <a:gdLst/>
                <a:ahLst/>
                <a:cxnLst/>
                <a:rect l="l" t="t" r="r" b="b"/>
                <a:pathLst>
                  <a:path w="6447050" h="3469221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675815" y="702979"/>
              <a:ext cx="21959466" cy="11434829"/>
              <a:chOff x="0" y="0"/>
              <a:chExt cx="6247007" cy="325296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247007" cy="3252968"/>
              </a:xfrm>
              <a:custGeom>
                <a:avLst/>
                <a:gdLst/>
                <a:ahLst/>
                <a:cxnLst/>
                <a:rect l="l" t="t" r="r" b="b"/>
                <a:pathLst>
                  <a:path w="6247007" h="3252968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 rot="-10800000">
              <a:off x="18828976" y="8400858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3" name="Freeform 13"/>
            <p:cNvSpPr/>
            <p:nvPr/>
          </p:nvSpPr>
          <p:spPr>
            <a:xfrm>
              <a:off x="0" y="13620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69"/>
                  </a:lnTo>
                  <a:lnTo>
                    <a:pt x="0" y="44399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4" name="Freeform 14"/>
            <p:cNvSpPr/>
            <p:nvPr/>
          </p:nvSpPr>
          <p:spPr>
            <a:xfrm rot="5400000">
              <a:off x="18828976" y="0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5" name="Freeform 15"/>
            <p:cNvSpPr/>
            <p:nvPr/>
          </p:nvSpPr>
          <p:spPr>
            <a:xfrm rot="-5400000">
              <a:off x="0" y="8418368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6" name="Freeform 16"/>
          <p:cNvSpPr/>
          <p:nvPr/>
        </p:nvSpPr>
        <p:spPr>
          <a:xfrm>
            <a:off x="4594181" y="7670951"/>
            <a:ext cx="1774815" cy="1348859"/>
          </a:xfrm>
          <a:custGeom>
            <a:avLst/>
            <a:gdLst/>
            <a:ahLst/>
            <a:cxnLst/>
            <a:rect l="l" t="t" r="r" b="b"/>
            <a:pathLst>
              <a:path w="1774815" h="1348859">
                <a:moveTo>
                  <a:pt x="0" y="0"/>
                </a:moveTo>
                <a:lnTo>
                  <a:pt x="1774815" y="0"/>
                </a:lnTo>
                <a:lnTo>
                  <a:pt x="1774815" y="1348860"/>
                </a:lnTo>
                <a:lnTo>
                  <a:pt x="0" y="134886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6838287" y="7613801"/>
            <a:ext cx="7834936" cy="908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4"/>
              </a:lnSpc>
            </a:pPr>
            <a:r>
              <a:rPr lang="en-US" sz="2607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"La mejor manera de predecir el futuro es crearlo."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715323" y="8466589"/>
            <a:ext cx="7931197" cy="553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90"/>
              </a:lnSpc>
            </a:pPr>
            <a:r>
              <a:rPr lang="en-US" sz="3851" i="1">
                <a:solidFill>
                  <a:srgbClr val="000000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Peter Drucker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307669" y="2455569"/>
            <a:ext cx="12067350" cy="44291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62482" lvl="1" indent="-331241" algn="l">
              <a:lnSpc>
                <a:spcPts val="5032"/>
              </a:lnSpc>
              <a:buFont typeface="Arial"/>
              <a:buChar char="•"/>
            </a:pPr>
            <a:r>
              <a:rPr lang="en-US" sz="3068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Implementación del software en un día</a:t>
            </a:r>
          </a:p>
          <a:p>
            <a:pPr algn="l">
              <a:lnSpc>
                <a:spcPts val="5032"/>
              </a:lnSpc>
            </a:pPr>
            <a:endParaRPr lang="en-US" sz="3068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  <a:p>
            <a:pPr marL="662482" lvl="1" indent="-331241" algn="l">
              <a:lnSpc>
                <a:spcPts val="5032"/>
              </a:lnSpc>
              <a:buFont typeface="Arial"/>
              <a:buChar char="•"/>
            </a:pPr>
            <a:r>
              <a:rPr lang="en-US" sz="3068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Resultados en los próximos JJOO</a:t>
            </a:r>
          </a:p>
          <a:p>
            <a:pPr algn="l">
              <a:lnSpc>
                <a:spcPts val="5032"/>
              </a:lnSpc>
            </a:pPr>
            <a:endParaRPr lang="en-US" sz="3068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  <a:p>
            <a:pPr marL="662482" lvl="1" indent="-331241" algn="l">
              <a:lnSpc>
                <a:spcPts val="5032"/>
              </a:lnSpc>
              <a:buFont typeface="Arial"/>
              <a:buChar char="•"/>
            </a:pPr>
            <a:r>
              <a:rPr lang="en-US" sz="3068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Seguimiento, actualización de datos y mejora continua</a:t>
            </a:r>
          </a:p>
          <a:p>
            <a:pPr algn="l">
              <a:lnSpc>
                <a:spcPts val="5032"/>
              </a:lnSpc>
            </a:pPr>
            <a:endParaRPr lang="en-US" sz="3068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  <a:p>
            <a:pPr marL="662482" lvl="1" indent="-331241" algn="l">
              <a:lnSpc>
                <a:spcPts val="5032"/>
              </a:lnSpc>
              <a:buFont typeface="Arial"/>
              <a:buChar char="•"/>
            </a:pPr>
            <a:r>
              <a:rPr lang="en-US" sz="3068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Descuentos Black Friday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628379" y="1421948"/>
            <a:ext cx="10173889" cy="7536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72"/>
              </a:lnSpc>
            </a:pPr>
            <a:r>
              <a:rPr lang="en-US" sz="5151" b="1" i="1">
                <a:solidFill>
                  <a:srgbClr val="000000"/>
                </a:solidFill>
                <a:latin typeface="Raleway Bold Italics"/>
                <a:ea typeface="Raleway Bold Italics"/>
                <a:cs typeface="Raleway Bold Italics"/>
                <a:sym typeface="Raleway Bold Italics"/>
              </a:rPr>
              <a:t>Apostar por Towars the Glory es: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79705" y="333297"/>
            <a:ext cx="17451709" cy="9620406"/>
            <a:chOff x="0" y="0"/>
            <a:chExt cx="23268945" cy="12827209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619526" cy="3649071"/>
              </a:xfrm>
              <a:custGeom>
                <a:avLst/>
                <a:gdLst/>
                <a:ahLst/>
                <a:cxnLst/>
                <a:rect l="l" t="t" r="r" b="b"/>
                <a:pathLst>
                  <a:path w="6619526" h="3649071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447050" cy="3469221"/>
              </a:xfrm>
              <a:custGeom>
                <a:avLst/>
                <a:gdLst/>
                <a:ahLst/>
                <a:cxnLst/>
                <a:rect l="l" t="t" r="r" b="b"/>
                <a:pathLst>
                  <a:path w="6447050" h="3469221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247007" cy="3252968"/>
              </a:xfrm>
              <a:custGeom>
                <a:avLst/>
                <a:gdLst/>
                <a:ahLst/>
                <a:cxnLst/>
                <a:rect l="l" t="t" r="r" b="b"/>
                <a:pathLst>
                  <a:path w="6247007" h="3252968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3" name="Freeform 13"/>
            <p:cNvSpPr/>
            <p:nvPr/>
          </p:nvSpPr>
          <p:spPr>
            <a:xfrm>
              <a:off x="0" y="0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2312014" y="4499190"/>
            <a:ext cx="13663973" cy="22328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18"/>
              </a:lnSpc>
            </a:pPr>
            <a:r>
              <a:rPr lang="en-US" sz="13601" b="1" spc="680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GRACIAS</a:t>
            </a:r>
          </a:p>
        </p:txBody>
      </p:sp>
      <p:sp>
        <p:nvSpPr>
          <p:cNvPr id="15" name="TextBox 15"/>
          <p:cNvSpPr txBox="1"/>
          <p:nvPr/>
        </p:nvSpPr>
        <p:spPr>
          <a:xfrm rot="-17737">
            <a:off x="1503018" y="8627473"/>
            <a:ext cx="3272475" cy="3644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13"/>
              </a:lnSpc>
              <a:spcBef>
                <a:spcPct val="0"/>
              </a:spcBef>
            </a:pPr>
            <a:r>
              <a:rPr lang="en-US" sz="2152" spc="135">
                <a:solidFill>
                  <a:srgbClr val="27403B"/>
                </a:solidFill>
                <a:latin typeface="Garet"/>
                <a:ea typeface="Garet"/>
                <a:cs typeface="Garet"/>
                <a:sym typeface="Garet"/>
              </a:rPr>
              <a:t>Álvaro Martinez</a:t>
            </a:r>
          </a:p>
        </p:txBody>
      </p:sp>
      <p:sp>
        <p:nvSpPr>
          <p:cNvPr id="16" name="TextBox 16"/>
          <p:cNvSpPr txBox="1"/>
          <p:nvPr/>
        </p:nvSpPr>
        <p:spPr>
          <a:xfrm rot="-17737">
            <a:off x="14201195" y="1406366"/>
            <a:ext cx="2622496" cy="3312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39"/>
              </a:lnSpc>
              <a:spcBef>
                <a:spcPct val="0"/>
              </a:spcBef>
            </a:pPr>
            <a:r>
              <a:rPr lang="en-US" sz="1957" spc="123">
                <a:solidFill>
                  <a:srgbClr val="27403B"/>
                </a:solidFill>
                <a:latin typeface="Garet"/>
                <a:ea typeface="Garet"/>
                <a:cs typeface="Garet"/>
                <a:sym typeface="Garet"/>
              </a:rPr>
              <a:t>Noviembre 2025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312014" y="3294756"/>
            <a:ext cx="13663973" cy="1556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499"/>
              </a:lnSpc>
            </a:pPr>
            <a:r>
              <a:rPr lang="en-US" sz="9541" spc="477">
                <a:solidFill>
                  <a:srgbClr val="27403B"/>
                </a:solidFill>
                <a:latin typeface="Raleway"/>
                <a:ea typeface="Raleway"/>
                <a:cs typeface="Raleway"/>
                <a:sym typeface="Raleway"/>
              </a:rPr>
              <a:t>MUCHAS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836260" y="6741566"/>
            <a:ext cx="8615481" cy="572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0"/>
              </a:lnSpc>
            </a:pPr>
            <a:r>
              <a:rPr lang="en-US" sz="3824" b="1" spc="84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TOWARS THE GLORY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552</Words>
  <Application>Microsoft Office PowerPoint</Application>
  <PresentationFormat>Personalizado</PresentationFormat>
  <Paragraphs>85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23" baseType="lpstr">
      <vt:lpstr>Raleway Italics</vt:lpstr>
      <vt:lpstr>Raleway Bold Italics</vt:lpstr>
      <vt:lpstr>Calibri</vt:lpstr>
      <vt:lpstr>Montserrat</vt:lpstr>
      <vt:lpstr>Poppins Bold</vt:lpstr>
      <vt:lpstr>Garet</vt:lpstr>
      <vt:lpstr>Arial</vt:lpstr>
      <vt:lpstr>Raleway</vt:lpstr>
      <vt:lpstr>Raleway Bold</vt:lpstr>
      <vt:lpstr>Raleway Semi-Bold</vt:lpstr>
      <vt:lpstr>Garet Bold</vt:lpstr>
      <vt:lpstr>Raleway Heavy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Álvaro Martinez</dc:title>
  <cp:lastModifiedBy>ALVARO</cp:lastModifiedBy>
  <cp:revision>5</cp:revision>
  <dcterms:created xsi:type="dcterms:W3CDTF">2006-08-16T00:00:00Z</dcterms:created>
  <dcterms:modified xsi:type="dcterms:W3CDTF">2025-11-25T09:48:25Z</dcterms:modified>
  <dc:identifier>DAG5mIpE1BM</dc:identifier>
</cp:coreProperties>
</file>